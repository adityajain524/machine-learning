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</p:sldIdLst>
  <p:sldSz cx="7556500" cy="10699750"/>
  <p:notesSz cx="7556500" cy="10699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2558" y="2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035427"/>
            <a:ext cx="6428422" cy="20562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483352"/>
            <a:ext cx="5293995" cy="2447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508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508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252091"/>
            <a:ext cx="3289839" cy="64625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252091"/>
            <a:ext cx="3289839" cy="64625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508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508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508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4119" y="356668"/>
            <a:ext cx="5993765" cy="1423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16991" y="1799722"/>
            <a:ext cx="4725670" cy="50171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106281"/>
            <a:ext cx="2420112" cy="489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106281"/>
            <a:ext cx="1739455" cy="489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697351" y="9699476"/>
            <a:ext cx="215900" cy="200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508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2666" y="7061469"/>
            <a:ext cx="4337516" cy="18528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316991" y="1799722"/>
            <a:ext cx="4725670" cy="47618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30" dirty="0"/>
              <a:t>A</a:t>
            </a:r>
            <a:r>
              <a:rPr spc="-70" dirty="0"/>
              <a:t> </a:t>
            </a:r>
            <a:r>
              <a:rPr dirty="0"/>
              <a:t>BUSINESS</a:t>
            </a:r>
            <a:r>
              <a:rPr spc="-70" dirty="0"/>
              <a:t> </a:t>
            </a:r>
            <a:r>
              <a:rPr spc="-90" dirty="0"/>
              <a:t>ANALYTICS</a:t>
            </a:r>
            <a:r>
              <a:rPr spc="-70" dirty="0"/>
              <a:t> </a:t>
            </a:r>
            <a:r>
              <a:rPr spc="-60" dirty="0"/>
              <a:t>PROJECT</a:t>
            </a:r>
            <a:r>
              <a:rPr spc="-70" dirty="0"/>
              <a:t> </a:t>
            </a:r>
            <a:r>
              <a:rPr spc="-10" dirty="0"/>
              <a:t>REPORT</a:t>
            </a:r>
          </a:p>
          <a:p>
            <a:pPr marL="158115" algn="ctr">
              <a:lnSpc>
                <a:spcPts val="1575"/>
              </a:lnSpc>
              <a:spcBef>
                <a:spcPts val="1920"/>
              </a:spcBef>
            </a:pPr>
            <a:r>
              <a:rPr sz="1350" b="1" i="1" dirty="0">
                <a:latin typeface="Trebuchet MS"/>
                <a:cs typeface="Trebuchet MS"/>
              </a:rPr>
              <a:t>Submitted</a:t>
            </a:r>
            <a:r>
              <a:rPr sz="1350" b="1" i="1" spc="30" dirty="0">
                <a:latin typeface="Trebuchet MS"/>
                <a:cs typeface="Trebuchet MS"/>
              </a:rPr>
              <a:t> </a:t>
            </a:r>
            <a:r>
              <a:rPr sz="1350" b="1" i="1" spc="-25" dirty="0">
                <a:latin typeface="Trebuchet MS"/>
                <a:cs typeface="Trebuchet MS"/>
              </a:rPr>
              <a:t>to</a:t>
            </a:r>
            <a:endParaRPr sz="1350" dirty="0">
              <a:latin typeface="Trebuchet MS"/>
              <a:cs typeface="Trebuchet MS"/>
            </a:endParaRPr>
          </a:p>
          <a:p>
            <a:pPr marL="202565" algn="ctr">
              <a:lnSpc>
                <a:spcPts val="1535"/>
              </a:lnSpc>
            </a:pPr>
            <a:r>
              <a:rPr sz="1350" i="1" spc="-40" dirty="0">
                <a:latin typeface="Trebuchet MS"/>
                <a:cs typeface="Trebuchet MS"/>
              </a:rPr>
              <a:t>DR.</a:t>
            </a:r>
            <a:r>
              <a:rPr sz="1350" i="1" spc="-55" dirty="0">
                <a:latin typeface="Trebuchet MS"/>
                <a:cs typeface="Trebuchet MS"/>
              </a:rPr>
              <a:t> </a:t>
            </a:r>
            <a:r>
              <a:rPr sz="1350" i="1" dirty="0">
                <a:latin typeface="Trebuchet MS"/>
                <a:cs typeface="Trebuchet MS"/>
              </a:rPr>
              <a:t>PIYUSH</a:t>
            </a:r>
            <a:r>
              <a:rPr sz="1350" i="1" spc="-50" dirty="0">
                <a:latin typeface="Trebuchet MS"/>
                <a:cs typeface="Trebuchet MS"/>
              </a:rPr>
              <a:t> </a:t>
            </a:r>
            <a:r>
              <a:rPr sz="1350" i="1" spc="-10" dirty="0">
                <a:latin typeface="Trebuchet MS"/>
                <a:cs typeface="Trebuchet MS"/>
              </a:rPr>
              <a:t>CHAUHAN</a:t>
            </a:r>
            <a:endParaRPr sz="1350" dirty="0">
              <a:latin typeface="Trebuchet MS"/>
              <a:cs typeface="Trebuchet MS"/>
            </a:endParaRPr>
          </a:p>
          <a:p>
            <a:pPr marL="1134110" marR="923290" indent="602615">
              <a:lnSpc>
                <a:spcPts val="1530"/>
              </a:lnSpc>
              <a:spcBef>
                <a:spcPts val="85"/>
              </a:spcBef>
            </a:pPr>
            <a:r>
              <a:rPr sz="1350" i="1" spc="-30" dirty="0">
                <a:latin typeface="Trebuchet MS"/>
                <a:cs typeface="Trebuchet MS"/>
              </a:rPr>
              <a:t>Associate</a:t>
            </a:r>
            <a:r>
              <a:rPr sz="1350" i="1" spc="-25" dirty="0">
                <a:latin typeface="Trebuchet MS"/>
                <a:cs typeface="Trebuchet MS"/>
              </a:rPr>
              <a:t> </a:t>
            </a:r>
            <a:r>
              <a:rPr sz="1350" i="1" spc="-10" dirty="0">
                <a:latin typeface="Trebuchet MS"/>
                <a:cs typeface="Trebuchet MS"/>
              </a:rPr>
              <a:t>Professor </a:t>
            </a:r>
            <a:r>
              <a:rPr sz="1350" i="1" spc="-20" dirty="0">
                <a:latin typeface="Trebuchet MS"/>
                <a:cs typeface="Trebuchet MS"/>
              </a:rPr>
              <a:t>Department</a:t>
            </a:r>
            <a:r>
              <a:rPr sz="1350" i="1" spc="-45" dirty="0">
                <a:latin typeface="Trebuchet MS"/>
                <a:cs typeface="Trebuchet MS"/>
              </a:rPr>
              <a:t> </a:t>
            </a:r>
            <a:r>
              <a:rPr sz="1350" i="1" spc="-50" dirty="0">
                <a:latin typeface="Trebuchet MS"/>
                <a:cs typeface="Trebuchet MS"/>
              </a:rPr>
              <a:t>of</a:t>
            </a:r>
            <a:r>
              <a:rPr sz="1350" i="1" spc="-40" dirty="0">
                <a:latin typeface="Trebuchet MS"/>
                <a:cs typeface="Trebuchet MS"/>
              </a:rPr>
              <a:t> </a:t>
            </a:r>
            <a:r>
              <a:rPr sz="1350" i="1" spc="-20" dirty="0">
                <a:latin typeface="Trebuchet MS"/>
                <a:cs typeface="Trebuchet MS"/>
              </a:rPr>
              <a:t>Computer</a:t>
            </a:r>
            <a:r>
              <a:rPr sz="1350" i="1" spc="-40" dirty="0">
                <a:latin typeface="Trebuchet MS"/>
                <a:cs typeface="Trebuchet MS"/>
              </a:rPr>
              <a:t> </a:t>
            </a:r>
            <a:r>
              <a:rPr sz="1350" i="1" spc="-25" dirty="0">
                <a:latin typeface="Trebuchet MS"/>
                <a:cs typeface="Trebuchet MS"/>
              </a:rPr>
              <a:t>Science</a:t>
            </a:r>
            <a:r>
              <a:rPr sz="1350" i="1" spc="-40" dirty="0">
                <a:latin typeface="Trebuchet MS"/>
                <a:cs typeface="Trebuchet MS"/>
              </a:rPr>
              <a:t> </a:t>
            </a:r>
            <a:r>
              <a:rPr sz="1350" i="1" spc="-50" dirty="0">
                <a:latin typeface="Trebuchet MS"/>
                <a:cs typeface="Trebuchet MS"/>
              </a:rPr>
              <a:t>&amp;</a:t>
            </a:r>
            <a:endParaRPr sz="1350" dirty="0">
              <a:latin typeface="Trebuchet MS"/>
              <a:cs typeface="Trebuchet MS"/>
            </a:endParaRPr>
          </a:p>
          <a:p>
            <a:pPr marL="202565" algn="ctr">
              <a:lnSpc>
                <a:spcPts val="1455"/>
              </a:lnSpc>
            </a:pPr>
            <a:r>
              <a:rPr sz="1350" i="1" spc="-10" dirty="0">
                <a:latin typeface="Trebuchet MS"/>
                <a:cs typeface="Trebuchet MS"/>
              </a:rPr>
              <a:t>Engineering</a:t>
            </a:r>
            <a:endParaRPr sz="1350" dirty="0">
              <a:latin typeface="Trebuchet MS"/>
              <a:cs typeface="Trebuchet MS"/>
            </a:endParaRPr>
          </a:p>
          <a:p>
            <a:pPr marL="890905" marR="679450" algn="ctr">
              <a:lnSpc>
                <a:spcPts val="1530"/>
              </a:lnSpc>
              <a:spcBef>
                <a:spcPts val="80"/>
              </a:spcBef>
            </a:pPr>
            <a:r>
              <a:rPr sz="1350" i="1" dirty="0">
                <a:latin typeface="Trebuchet MS"/>
                <a:cs typeface="Trebuchet MS"/>
              </a:rPr>
              <a:t>Symbiosis</a:t>
            </a:r>
            <a:r>
              <a:rPr sz="1350" i="1" spc="-45" dirty="0">
                <a:latin typeface="Trebuchet MS"/>
                <a:cs typeface="Trebuchet MS"/>
              </a:rPr>
              <a:t> </a:t>
            </a:r>
            <a:r>
              <a:rPr sz="1350" i="1" spc="-50" dirty="0">
                <a:latin typeface="Trebuchet MS"/>
                <a:cs typeface="Trebuchet MS"/>
              </a:rPr>
              <a:t>Institute</a:t>
            </a:r>
            <a:r>
              <a:rPr sz="1350" i="1" spc="-45" dirty="0">
                <a:latin typeface="Trebuchet MS"/>
                <a:cs typeface="Trebuchet MS"/>
              </a:rPr>
              <a:t> </a:t>
            </a:r>
            <a:r>
              <a:rPr sz="1350" i="1" spc="-50" dirty="0">
                <a:latin typeface="Trebuchet MS"/>
                <a:cs typeface="Trebuchet MS"/>
              </a:rPr>
              <a:t>of</a:t>
            </a:r>
            <a:r>
              <a:rPr sz="1350" i="1" spc="-40" dirty="0">
                <a:latin typeface="Trebuchet MS"/>
                <a:cs typeface="Trebuchet MS"/>
              </a:rPr>
              <a:t> Technology,</a:t>
            </a:r>
            <a:r>
              <a:rPr sz="1350" i="1" spc="-45" dirty="0">
                <a:latin typeface="Trebuchet MS"/>
                <a:cs typeface="Trebuchet MS"/>
              </a:rPr>
              <a:t> </a:t>
            </a:r>
            <a:r>
              <a:rPr sz="1350" i="1" spc="-10" dirty="0">
                <a:latin typeface="Trebuchet MS"/>
                <a:cs typeface="Trebuchet MS"/>
              </a:rPr>
              <a:t>Nagpur Campus</a:t>
            </a:r>
            <a:endParaRPr sz="1350" dirty="0">
              <a:latin typeface="Trebuchet MS"/>
              <a:cs typeface="Trebuchet MS"/>
            </a:endParaRPr>
          </a:p>
          <a:p>
            <a:pPr marL="1772285" marR="1527810" indent="-74930" algn="ctr">
              <a:lnSpc>
                <a:spcPct val="94600"/>
              </a:lnSpc>
              <a:spcBef>
                <a:spcPts val="1425"/>
              </a:spcBef>
            </a:pPr>
            <a:r>
              <a:rPr sz="1350" b="1" i="1" spc="-30" dirty="0">
                <a:latin typeface="Arial"/>
                <a:cs typeface="Arial"/>
              </a:rPr>
              <a:t>Submitted</a:t>
            </a:r>
            <a:r>
              <a:rPr sz="1350" b="1" i="1" spc="-25" dirty="0">
                <a:latin typeface="Arial"/>
                <a:cs typeface="Arial"/>
              </a:rPr>
              <a:t> by </a:t>
            </a:r>
            <a:r>
              <a:rPr lang="en-US" sz="1350" i="1" spc="-75" dirty="0">
                <a:latin typeface="Verdana"/>
                <a:cs typeface="Arial"/>
              </a:rPr>
              <a:t>Aditya Vishal  Jain</a:t>
            </a:r>
            <a:r>
              <a:rPr sz="1350" i="1" spc="-90" dirty="0">
                <a:latin typeface="Verdana"/>
                <a:cs typeface="Verdana"/>
              </a:rPr>
              <a:t> VI</a:t>
            </a:r>
            <a:r>
              <a:rPr lang="en-US" sz="1350" i="1" spc="-90" dirty="0">
                <a:latin typeface="Verdana"/>
                <a:cs typeface="Verdana"/>
              </a:rPr>
              <a:t>I</a:t>
            </a:r>
            <a:r>
              <a:rPr sz="1350" i="1" spc="-145" dirty="0">
                <a:latin typeface="Verdana"/>
                <a:cs typeface="Verdana"/>
              </a:rPr>
              <a:t> </a:t>
            </a:r>
            <a:r>
              <a:rPr sz="1350" i="1" spc="-25" dirty="0">
                <a:latin typeface="Verdana"/>
                <a:cs typeface="Verdana"/>
              </a:rPr>
              <a:t>SEM</a:t>
            </a:r>
            <a:endParaRPr sz="1350" dirty="0">
              <a:latin typeface="Verdana"/>
              <a:cs typeface="Verdana"/>
            </a:endParaRPr>
          </a:p>
          <a:p>
            <a:pPr marL="158750" algn="ctr">
              <a:lnSpc>
                <a:spcPts val="1445"/>
              </a:lnSpc>
            </a:pPr>
            <a:r>
              <a:rPr sz="1350" i="1" spc="-110" dirty="0">
                <a:latin typeface="Verdana"/>
                <a:cs typeface="Verdana"/>
              </a:rPr>
              <a:t>PRN:</a:t>
            </a:r>
            <a:r>
              <a:rPr sz="1350" i="1" spc="-210" dirty="0">
                <a:latin typeface="Verdana"/>
                <a:cs typeface="Verdana"/>
              </a:rPr>
              <a:t> </a:t>
            </a:r>
            <a:r>
              <a:rPr sz="1350" i="1" spc="-10" dirty="0">
                <a:latin typeface="Verdana"/>
                <a:cs typeface="Verdana"/>
              </a:rPr>
              <a:t>220705210</a:t>
            </a:r>
            <a:r>
              <a:rPr lang="en-US" sz="1350" i="1" spc="-10" dirty="0">
                <a:latin typeface="Arial MT"/>
                <a:cs typeface="Verdana"/>
              </a:rPr>
              <a:t>92</a:t>
            </a:r>
            <a:endParaRPr sz="1350" dirty="0">
              <a:latin typeface="Verdana"/>
              <a:cs typeface="Verdana"/>
            </a:endParaRPr>
          </a:p>
          <a:p>
            <a:pPr marL="1136650" marR="925194" algn="ctr">
              <a:lnSpc>
                <a:spcPts val="1530"/>
              </a:lnSpc>
              <a:spcBef>
                <a:spcPts val="125"/>
              </a:spcBef>
            </a:pPr>
            <a:r>
              <a:rPr sz="1350" i="1" spc="-110" dirty="0">
                <a:latin typeface="Verdana"/>
                <a:cs typeface="Verdana"/>
              </a:rPr>
              <a:t>Department</a:t>
            </a:r>
            <a:r>
              <a:rPr sz="1350" i="1" spc="-125" dirty="0">
                <a:latin typeface="Verdana"/>
                <a:cs typeface="Verdana"/>
              </a:rPr>
              <a:t> </a:t>
            </a:r>
            <a:r>
              <a:rPr sz="1350" i="1" spc="-80" dirty="0">
                <a:latin typeface="Verdana"/>
                <a:cs typeface="Verdana"/>
              </a:rPr>
              <a:t>of</a:t>
            </a:r>
            <a:r>
              <a:rPr sz="1350" i="1" spc="-120" dirty="0">
                <a:latin typeface="Verdana"/>
                <a:cs typeface="Verdana"/>
              </a:rPr>
              <a:t> </a:t>
            </a:r>
            <a:r>
              <a:rPr sz="1350" i="1" spc="-114" dirty="0">
                <a:latin typeface="Verdana"/>
                <a:cs typeface="Verdana"/>
              </a:rPr>
              <a:t>Computer</a:t>
            </a:r>
            <a:r>
              <a:rPr sz="1350" i="1" spc="-120" dirty="0">
                <a:latin typeface="Verdana"/>
                <a:cs typeface="Verdana"/>
              </a:rPr>
              <a:t> </a:t>
            </a:r>
            <a:r>
              <a:rPr sz="1350" i="1" spc="-90" dirty="0">
                <a:latin typeface="Verdana"/>
                <a:cs typeface="Verdana"/>
              </a:rPr>
              <a:t>Science</a:t>
            </a:r>
            <a:r>
              <a:rPr sz="1350" i="1" spc="-120" dirty="0">
                <a:latin typeface="Verdana"/>
                <a:cs typeface="Verdana"/>
              </a:rPr>
              <a:t> </a:t>
            </a:r>
            <a:r>
              <a:rPr sz="1350" i="1" spc="-50" dirty="0">
                <a:latin typeface="Verdana"/>
                <a:cs typeface="Verdana"/>
              </a:rPr>
              <a:t>&amp; </a:t>
            </a:r>
            <a:r>
              <a:rPr sz="1350" i="1" spc="-10" dirty="0">
                <a:latin typeface="Verdana"/>
                <a:cs typeface="Verdana"/>
              </a:rPr>
              <a:t>Engineering</a:t>
            </a:r>
            <a:endParaRPr sz="1350" dirty="0">
              <a:latin typeface="Verdana"/>
              <a:cs typeface="Verdana"/>
            </a:endParaRPr>
          </a:p>
          <a:p>
            <a:pPr marL="865505" marR="654685" algn="ctr">
              <a:lnSpc>
                <a:spcPts val="1530"/>
              </a:lnSpc>
              <a:spcBef>
                <a:spcPts val="5"/>
              </a:spcBef>
            </a:pPr>
            <a:r>
              <a:rPr sz="1350" i="1" spc="-95" dirty="0">
                <a:latin typeface="Verdana"/>
                <a:cs typeface="Verdana"/>
              </a:rPr>
              <a:t>Symbiosis</a:t>
            </a:r>
            <a:r>
              <a:rPr sz="1350" i="1" spc="-110" dirty="0">
                <a:latin typeface="Verdana"/>
                <a:cs typeface="Verdana"/>
              </a:rPr>
              <a:t> </a:t>
            </a:r>
            <a:r>
              <a:rPr sz="1350" i="1" spc="-90" dirty="0">
                <a:latin typeface="Verdana"/>
                <a:cs typeface="Verdana"/>
              </a:rPr>
              <a:t>Institute</a:t>
            </a:r>
            <a:r>
              <a:rPr sz="1350" i="1" spc="-110" dirty="0">
                <a:latin typeface="Verdana"/>
                <a:cs typeface="Verdana"/>
              </a:rPr>
              <a:t> </a:t>
            </a:r>
            <a:r>
              <a:rPr sz="1350" i="1" spc="-80" dirty="0">
                <a:latin typeface="Verdana"/>
                <a:cs typeface="Verdana"/>
              </a:rPr>
              <a:t>of</a:t>
            </a:r>
            <a:r>
              <a:rPr sz="1350" i="1" spc="-110" dirty="0">
                <a:latin typeface="Verdana"/>
                <a:cs typeface="Verdana"/>
              </a:rPr>
              <a:t> </a:t>
            </a:r>
            <a:r>
              <a:rPr sz="1350" i="1" spc="-105" dirty="0">
                <a:latin typeface="Verdana"/>
                <a:cs typeface="Verdana"/>
              </a:rPr>
              <a:t>Technology, </a:t>
            </a:r>
            <a:r>
              <a:rPr sz="1350" i="1" spc="-65" dirty="0">
                <a:latin typeface="Verdana"/>
                <a:cs typeface="Verdana"/>
              </a:rPr>
              <a:t>Nagpur </a:t>
            </a:r>
            <a:r>
              <a:rPr sz="1350" i="1" spc="-10" dirty="0">
                <a:latin typeface="Verdana"/>
                <a:cs typeface="Verdana"/>
              </a:rPr>
              <a:t>Campus</a:t>
            </a:r>
            <a:endParaRPr sz="1350" dirty="0">
              <a:latin typeface="Verdana"/>
              <a:cs typeface="Verdana"/>
            </a:endParaRPr>
          </a:p>
          <a:p>
            <a:pPr marL="161925" algn="ctr">
              <a:lnSpc>
                <a:spcPct val="100000"/>
              </a:lnSpc>
              <a:spcBef>
                <a:spcPts val="1415"/>
              </a:spcBef>
            </a:pPr>
            <a:r>
              <a:rPr sz="1350" b="1" i="1" spc="-35" dirty="0">
                <a:latin typeface="Arial"/>
                <a:cs typeface="Arial"/>
              </a:rPr>
              <a:t>Under</a:t>
            </a:r>
            <a:r>
              <a:rPr sz="1350" b="1" i="1" spc="-50" dirty="0">
                <a:latin typeface="Arial"/>
                <a:cs typeface="Arial"/>
              </a:rPr>
              <a:t> </a:t>
            </a:r>
            <a:r>
              <a:rPr sz="1350" b="1" i="1" spc="-20" dirty="0">
                <a:latin typeface="Arial"/>
                <a:cs typeface="Arial"/>
              </a:rPr>
              <a:t>the</a:t>
            </a:r>
            <a:r>
              <a:rPr sz="1350" b="1" i="1" spc="-50" dirty="0">
                <a:latin typeface="Arial"/>
                <a:cs typeface="Arial"/>
              </a:rPr>
              <a:t> </a:t>
            </a:r>
            <a:r>
              <a:rPr sz="1350" b="1" i="1" spc="-40" dirty="0">
                <a:latin typeface="Arial"/>
                <a:cs typeface="Arial"/>
              </a:rPr>
              <a:t>Guidance</a:t>
            </a:r>
            <a:r>
              <a:rPr sz="1350" b="1" i="1" spc="-50" dirty="0">
                <a:latin typeface="Arial"/>
                <a:cs typeface="Arial"/>
              </a:rPr>
              <a:t> </a:t>
            </a:r>
            <a:r>
              <a:rPr sz="1350" b="1" i="1" spc="-25" dirty="0">
                <a:latin typeface="Arial"/>
                <a:cs typeface="Arial"/>
              </a:rPr>
              <a:t>of</a:t>
            </a:r>
            <a:endParaRPr sz="1350" dirty="0">
              <a:latin typeface="Arial"/>
              <a:cs typeface="Arial"/>
            </a:endParaRPr>
          </a:p>
          <a:p>
            <a:pPr marL="203200" algn="ctr">
              <a:lnSpc>
                <a:spcPct val="100000"/>
              </a:lnSpc>
              <a:spcBef>
                <a:spcPts val="130"/>
              </a:spcBef>
            </a:pPr>
            <a:r>
              <a:rPr lang="en-US" sz="1350" i="1" spc="-85" dirty="0">
                <a:latin typeface="Verdana"/>
                <a:cs typeface="Verdana"/>
              </a:rPr>
              <a:t>PIYUSH CHAUHAN</a:t>
            </a:r>
            <a:r>
              <a:rPr sz="1350" i="1" spc="-120" dirty="0">
                <a:latin typeface="Verdana"/>
                <a:cs typeface="Verdana"/>
              </a:rPr>
              <a:t> </a:t>
            </a:r>
            <a:r>
              <a:rPr sz="1350" i="1" spc="-25" dirty="0">
                <a:latin typeface="Verdana"/>
                <a:cs typeface="Verdana"/>
              </a:rPr>
              <a:t>SIR</a:t>
            </a:r>
            <a:endParaRPr sz="135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1350" dirty="0">
              <a:latin typeface="Verdana"/>
              <a:cs typeface="Verdana"/>
            </a:endParaRPr>
          </a:p>
          <a:p>
            <a:pPr marL="203200" algn="ctr">
              <a:lnSpc>
                <a:spcPct val="100000"/>
              </a:lnSpc>
            </a:pPr>
            <a:r>
              <a:rPr sz="1350" b="1" i="1" spc="-65" dirty="0">
                <a:latin typeface="Arial"/>
                <a:cs typeface="Arial"/>
              </a:rPr>
              <a:t>Course</a:t>
            </a:r>
            <a:r>
              <a:rPr sz="1350" b="1" i="1" spc="-40" dirty="0">
                <a:latin typeface="Arial"/>
                <a:cs typeface="Arial"/>
              </a:rPr>
              <a:t> </a:t>
            </a:r>
            <a:r>
              <a:rPr sz="1350" b="1" i="1" spc="-20" dirty="0">
                <a:latin typeface="Arial"/>
                <a:cs typeface="Arial"/>
              </a:rPr>
              <a:t>Name:</a:t>
            </a:r>
            <a:r>
              <a:rPr sz="1350" b="1" i="1" spc="-40" dirty="0">
                <a:latin typeface="Arial"/>
                <a:cs typeface="Arial"/>
              </a:rPr>
              <a:t> </a:t>
            </a:r>
            <a:r>
              <a:rPr lang="en-US" sz="1350" b="1" i="1" spc="-80" dirty="0">
                <a:latin typeface="Verdana"/>
                <a:cs typeface="Arial"/>
              </a:rPr>
              <a:t>ML</a:t>
            </a:r>
            <a:endParaRPr sz="135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R="41910" algn="ctr">
              <a:lnSpc>
                <a:spcPts val="3465"/>
              </a:lnSpc>
              <a:spcBef>
                <a:spcPts val="114"/>
              </a:spcBef>
            </a:pPr>
            <a:r>
              <a:rPr sz="3100" b="1" i="1" spc="-210" dirty="0">
                <a:latin typeface="Arial"/>
                <a:cs typeface="Arial"/>
              </a:rPr>
              <a:t>A</a:t>
            </a:r>
            <a:r>
              <a:rPr sz="3100" b="1" i="1" spc="-145" dirty="0">
                <a:latin typeface="Arial"/>
                <a:cs typeface="Arial"/>
              </a:rPr>
              <a:t> </a:t>
            </a:r>
            <a:r>
              <a:rPr sz="3100" b="1" i="1" dirty="0">
                <a:latin typeface="Arial"/>
                <a:cs typeface="Arial"/>
              </a:rPr>
              <a:t>Data</a:t>
            </a:r>
            <a:r>
              <a:rPr sz="3100" b="1" dirty="0">
                <a:latin typeface="Arial"/>
                <a:cs typeface="Arial"/>
              </a:rPr>
              <a:t>-</a:t>
            </a:r>
            <a:r>
              <a:rPr sz="3100" b="1" i="1" spc="-75" dirty="0">
                <a:latin typeface="Arial"/>
                <a:cs typeface="Arial"/>
              </a:rPr>
              <a:t>Dri</a:t>
            </a:r>
            <a:r>
              <a:rPr sz="3100" b="1" spc="-75" dirty="0">
                <a:latin typeface="Arial"/>
                <a:cs typeface="Arial"/>
              </a:rPr>
              <a:t>v</a:t>
            </a:r>
            <a:r>
              <a:rPr sz="3100" b="1" i="1" spc="-75" dirty="0">
                <a:latin typeface="Arial"/>
                <a:cs typeface="Arial"/>
              </a:rPr>
              <a:t>en</a:t>
            </a:r>
            <a:r>
              <a:rPr sz="3100" b="1" i="1" spc="-165" dirty="0">
                <a:latin typeface="Arial"/>
                <a:cs typeface="Arial"/>
              </a:rPr>
              <a:t> </a:t>
            </a:r>
            <a:r>
              <a:rPr sz="3100" b="1" i="1" spc="-95" dirty="0">
                <a:latin typeface="Arial"/>
                <a:cs typeface="Arial"/>
              </a:rPr>
              <a:t>Study</a:t>
            </a:r>
            <a:r>
              <a:rPr sz="3100" b="1" i="1" spc="-240" dirty="0">
                <a:latin typeface="Arial"/>
                <a:cs typeface="Arial"/>
              </a:rPr>
              <a:t> </a:t>
            </a:r>
            <a:r>
              <a:rPr sz="3100" b="1" i="1" spc="-80" dirty="0">
                <a:latin typeface="Arial"/>
                <a:cs typeface="Arial"/>
              </a:rPr>
              <a:t>of</a:t>
            </a:r>
            <a:r>
              <a:rPr sz="3100" b="1" i="1" spc="-195" dirty="0">
                <a:latin typeface="Arial"/>
                <a:cs typeface="Arial"/>
              </a:rPr>
              <a:t> </a:t>
            </a:r>
            <a:r>
              <a:rPr sz="3100" b="1" i="1" spc="-10" dirty="0">
                <a:latin typeface="Arial"/>
                <a:cs typeface="Arial"/>
              </a:rPr>
              <a:t>India</a:t>
            </a:r>
            <a:r>
              <a:rPr sz="3100" b="1" spc="-10" dirty="0">
                <a:latin typeface="Arial"/>
                <a:cs typeface="Arial"/>
              </a:rPr>
              <a:t>'</a:t>
            </a:r>
            <a:r>
              <a:rPr sz="3100" b="1" i="1" spc="-10" dirty="0">
                <a:latin typeface="Arial"/>
                <a:cs typeface="Arial"/>
              </a:rPr>
              <a:t>s</a:t>
            </a:r>
            <a:endParaRPr sz="3100">
              <a:latin typeface="Arial"/>
              <a:cs typeface="Arial"/>
            </a:endParaRPr>
          </a:p>
          <a:p>
            <a:pPr algn="ctr">
              <a:lnSpc>
                <a:spcPts val="3465"/>
              </a:lnSpc>
            </a:pPr>
            <a:r>
              <a:rPr sz="3100" b="1" spc="-40" dirty="0">
                <a:latin typeface="Arial"/>
                <a:cs typeface="Arial"/>
              </a:rPr>
              <a:t>Exp</a:t>
            </a:r>
            <a:r>
              <a:rPr sz="3100" b="1" i="1" spc="-40" dirty="0">
                <a:latin typeface="Arial"/>
                <a:cs typeface="Arial"/>
              </a:rPr>
              <a:t>ort</a:t>
            </a:r>
            <a:r>
              <a:rPr sz="3100" b="1" i="1" spc="-180" dirty="0">
                <a:latin typeface="Arial"/>
                <a:cs typeface="Arial"/>
              </a:rPr>
              <a:t> </a:t>
            </a:r>
            <a:r>
              <a:rPr sz="3100" b="1" i="1" spc="-80" dirty="0">
                <a:latin typeface="Arial"/>
                <a:cs typeface="Arial"/>
              </a:rPr>
              <a:t>Dynamics</a:t>
            </a:r>
            <a:r>
              <a:rPr sz="3100" b="1" i="1" spc="-225" dirty="0">
                <a:latin typeface="Arial"/>
                <a:cs typeface="Arial"/>
              </a:rPr>
              <a:t> </a:t>
            </a:r>
            <a:r>
              <a:rPr sz="3100" b="1" i="1" spc="-80" dirty="0">
                <a:latin typeface="Arial"/>
                <a:cs typeface="Arial"/>
              </a:rPr>
              <a:t>to</a:t>
            </a:r>
            <a:r>
              <a:rPr sz="3100" b="1" i="1" spc="-215" dirty="0">
                <a:latin typeface="Arial"/>
                <a:cs typeface="Arial"/>
              </a:rPr>
              <a:t> </a:t>
            </a:r>
            <a:r>
              <a:rPr sz="3100" b="1" i="1" spc="-55" dirty="0">
                <a:latin typeface="Arial"/>
                <a:cs typeface="Arial"/>
              </a:rPr>
              <a:t>the</a:t>
            </a:r>
            <a:r>
              <a:rPr sz="3100" b="1" i="1" spc="-220" dirty="0">
                <a:latin typeface="Arial"/>
                <a:cs typeface="Arial"/>
              </a:rPr>
              <a:t> </a:t>
            </a:r>
            <a:r>
              <a:rPr sz="3100" b="1" i="1" spc="-40" dirty="0">
                <a:latin typeface="Arial"/>
                <a:cs typeface="Arial"/>
              </a:rPr>
              <a:t>Americas</a:t>
            </a:r>
            <a:endParaRPr sz="3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xfrm>
            <a:off x="11398250" y="7207250"/>
            <a:ext cx="215900" cy="20002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70"/>
              </a:spcBef>
            </a:pPr>
            <a:r>
              <a:rPr spc="-50" dirty="0"/>
              <a:t>4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02969" y="1139582"/>
            <a:ext cx="5760085" cy="8437245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240665" indent="-227965" algn="just">
              <a:lnSpc>
                <a:spcPct val="100000"/>
              </a:lnSpc>
              <a:spcBef>
                <a:spcPts val="1160"/>
              </a:spcBef>
              <a:buAutoNum type="arabicPeriod"/>
              <a:tabLst>
                <a:tab pos="240665" algn="l"/>
              </a:tabLst>
            </a:pPr>
            <a:r>
              <a:rPr sz="1800" dirty="0">
                <a:latin typeface="Times New Roman"/>
                <a:cs typeface="Times New Roman"/>
              </a:rPr>
              <a:t>Project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Definition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Understanding</a:t>
            </a:r>
            <a:endParaRPr sz="1800" dirty="0">
              <a:latin typeface="Times New Roman"/>
              <a:cs typeface="Times New Roman"/>
            </a:endParaRPr>
          </a:p>
          <a:p>
            <a:pPr marL="297180" lvl="1" indent="-284480" algn="just">
              <a:lnSpc>
                <a:spcPct val="100000"/>
              </a:lnSpc>
              <a:spcBef>
                <a:spcPts val="865"/>
              </a:spcBef>
              <a:buAutoNum type="arabicPeriod"/>
              <a:tabLst>
                <a:tab pos="297180" algn="l"/>
              </a:tabLst>
            </a:pPr>
            <a:r>
              <a:rPr sz="1400" dirty="0">
                <a:latin typeface="Times New Roman"/>
                <a:cs typeface="Times New Roman"/>
              </a:rPr>
              <a:t>Understanding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Business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Problem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Statement</a:t>
            </a:r>
            <a:endParaRPr sz="1400" dirty="0">
              <a:latin typeface="Times New Roman"/>
              <a:cs typeface="Times New Roman"/>
            </a:endParaRPr>
          </a:p>
          <a:p>
            <a:pPr marL="12700" marR="7620" algn="just">
              <a:lnSpc>
                <a:spcPct val="99000"/>
              </a:lnSpc>
              <a:spcBef>
                <a:spcPts val="490"/>
              </a:spcBef>
            </a:pP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context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global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trade,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understanding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export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dynamics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essential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optimizing </a:t>
            </a:r>
            <a:r>
              <a:rPr sz="1200" dirty="0">
                <a:latin typeface="Times New Roman"/>
                <a:cs typeface="Times New Roman"/>
              </a:rPr>
              <a:t>national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trade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strategies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enhancing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economic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growth.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India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engages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significant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trade </a:t>
            </a:r>
            <a:r>
              <a:rPr sz="1200" dirty="0">
                <a:latin typeface="Times New Roman"/>
                <a:cs typeface="Times New Roman"/>
              </a:rPr>
              <a:t>activities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American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countries,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exporting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wide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range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commodities.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However,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is </a:t>
            </a:r>
            <a:r>
              <a:rPr sz="1200" spc="-10" dirty="0">
                <a:latin typeface="Times New Roman"/>
                <a:cs typeface="Times New Roman"/>
              </a:rPr>
              <a:t>limited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actionable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insight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commodities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contribute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most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significantly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trade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value,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exports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vary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across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different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countries</a:t>
            </a:r>
            <a:r>
              <a:rPr sz="1200" spc="25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within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Americas,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what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patterns </a:t>
            </a:r>
            <a:r>
              <a:rPr sz="1200" dirty="0">
                <a:latin typeface="Times New Roman"/>
                <a:cs typeface="Times New Roman"/>
              </a:rPr>
              <a:t>emerge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over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time.</a:t>
            </a:r>
            <a:endParaRPr sz="1200" dirty="0">
              <a:latin typeface="Times New Roman"/>
              <a:cs typeface="Times New Roman"/>
            </a:endParaRPr>
          </a:p>
          <a:p>
            <a:pPr marL="12700" marR="7620" algn="just">
              <a:lnSpc>
                <a:spcPct val="99100"/>
              </a:lnSpc>
              <a:spcBef>
                <a:spcPts val="825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lack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granular,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data-</a:t>
            </a:r>
            <a:r>
              <a:rPr sz="1200" dirty="0">
                <a:latin typeface="Times New Roman"/>
                <a:cs typeface="Times New Roman"/>
              </a:rPr>
              <a:t>driven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understanding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limits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ability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policymakers,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trade </a:t>
            </a:r>
            <a:r>
              <a:rPr sz="1200" dirty="0">
                <a:latin typeface="Times New Roman"/>
                <a:cs typeface="Times New Roman"/>
              </a:rPr>
              <a:t>analysts,</a:t>
            </a:r>
            <a:r>
              <a:rPr sz="1200" spc="4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export-</a:t>
            </a:r>
            <a:r>
              <a:rPr sz="1200" dirty="0">
                <a:latin typeface="Times New Roman"/>
                <a:cs typeface="Times New Roman"/>
              </a:rPr>
              <a:t>oriented</a:t>
            </a:r>
            <a:r>
              <a:rPr sz="1200" spc="4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businesses</a:t>
            </a:r>
            <a:r>
              <a:rPr sz="1200" spc="3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make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informed</a:t>
            </a:r>
            <a:r>
              <a:rPr sz="1200" spc="4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decisions</a:t>
            </a:r>
            <a:r>
              <a:rPr sz="1200" spc="3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regarding</a:t>
            </a:r>
            <a:r>
              <a:rPr sz="1200" spc="40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market </a:t>
            </a:r>
            <a:r>
              <a:rPr sz="1200" dirty="0">
                <a:latin typeface="Times New Roman"/>
                <a:cs typeface="Times New Roman"/>
              </a:rPr>
              <a:t>prioritization,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product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diversification,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resource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allocation.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Without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systematic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analysis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trade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flows—</a:t>
            </a:r>
            <a:r>
              <a:rPr sz="1200" dirty="0">
                <a:latin typeface="Times New Roman"/>
                <a:cs typeface="Times New Roman"/>
              </a:rPr>
              <a:t>especially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focused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high-</a:t>
            </a:r>
            <a:r>
              <a:rPr sz="1200" dirty="0">
                <a:latin typeface="Times New Roman"/>
                <a:cs typeface="Times New Roman"/>
              </a:rPr>
              <a:t>value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exports—</a:t>
            </a:r>
            <a:r>
              <a:rPr sz="1200" dirty="0">
                <a:latin typeface="Times New Roman"/>
                <a:cs typeface="Times New Roman"/>
              </a:rPr>
              <a:t>stakeholders</a:t>
            </a:r>
            <a:r>
              <a:rPr sz="1200" spc="4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risk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overlooking emerging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opportunities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inefficiencies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export</a:t>
            </a:r>
            <a:r>
              <a:rPr sz="1200" spc="-10" dirty="0">
                <a:latin typeface="Times New Roman"/>
                <a:cs typeface="Times New Roman"/>
              </a:rPr>
              <a:t> value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chain.</a:t>
            </a:r>
            <a:endParaRPr sz="12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800"/>
              </a:lnSpc>
              <a:spcBef>
                <a:spcPts val="800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addresses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business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need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identify,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analyze,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interpret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India’s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export </a:t>
            </a:r>
            <a:r>
              <a:rPr sz="1200" dirty="0">
                <a:latin typeface="Times New Roman"/>
                <a:cs typeface="Times New Roman"/>
              </a:rPr>
              <a:t>patterns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American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countries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leveraging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historical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trade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goal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uncover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top- </a:t>
            </a:r>
            <a:r>
              <a:rPr sz="1200" dirty="0">
                <a:latin typeface="Times New Roman"/>
                <a:cs typeface="Times New Roman"/>
              </a:rPr>
              <a:t>performing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commodities,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major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recipient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countries,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temporal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trends,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thereby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enabling </a:t>
            </a:r>
            <a:r>
              <a:rPr sz="1200" spc="-25" dirty="0">
                <a:latin typeface="Times New Roman"/>
                <a:cs typeface="Times New Roman"/>
              </a:rPr>
              <a:t>evidence-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decision-</a:t>
            </a:r>
            <a:r>
              <a:rPr sz="1200" dirty="0">
                <a:latin typeface="Times New Roman"/>
                <a:cs typeface="Times New Roman"/>
              </a:rPr>
              <a:t>making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strengthen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India’s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trade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footprint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region.</a:t>
            </a:r>
            <a:endParaRPr sz="1200" dirty="0">
              <a:latin typeface="Times New Roman"/>
              <a:cs typeface="Times New Roman"/>
            </a:endParaRPr>
          </a:p>
          <a:p>
            <a:pPr marL="287020" lvl="1" indent="-274320" algn="just">
              <a:lnSpc>
                <a:spcPct val="100000"/>
              </a:lnSpc>
              <a:spcBef>
                <a:spcPts val="760"/>
              </a:spcBef>
              <a:buFont typeface="Calibri Light"/>
              <a:buAutoNum type="arabicPeriod" startAt="2"/>
              <a:tabLst>
                <a:tab pos="287020" algn="l"/>
              </a:tabLst>
            </a:pPr>
            <a:r>
              <a:rPr sz="1400" dirty="0">
                <a:latin typeface="Times New Roman"/>
                <a:cs typeface="Times New Roman"/>
              </a:rPr>
              <a:t>Specific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Key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Question</a:t>
            </a:r>
            <a:endParaRPr sz="1400" dirty="0">
              <a:latin typeface="Times New Roman"/>
              <a:cs typeface="Times New Roman"/>
            </a:endParaRPr>
          </a:p>
          <a:p>
            <a:pPr marL="459740" lvl="2" indent="-227965">
              <a:lnSpc>
                <a:spcPts val="1435"/>
              </a:lnSpc>
              <a:spcBef>
                <a:spcPts val="470"/>
              </a:spcBef>
              <a:buFont typeface="Wingdings"/>
              <a:buChar char=""/>
              <a:tabLst>
                <a:tab pos="459740" algn="l"/>
              </a:tabLst>
            </a:pPr>
            <a:r>
              <a:rPr sz="1200" dirty="0">
                <a:latin typeface="Times New Roman"/>
                <a:cs typeface="Times New Roman"/>
              </a:rPr>
              <a:t>What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most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significant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factors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affecting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export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values?</a:t>
            </a:r>
            <a:endParaRPr sz="1200" dirty="0">
              <a:latin typeface="Times New Roman"/>
              <a:cs typeface="Times New Roman"/>
            </a:endParaRPr>
          </a:p>
          <a:p>
            <a:pPr marL="459740" lvl="2" indent="-227965">
              <a:lnSpc>
                <a:spcPts val="1435"/>
              </a:lnSpc>
              <a:buFont typeface="Wingdings"/>
              <a:buChar char=""/>
              <a:tabLst>
                <a:tab pos="459740" algn="l"/>
              </a:tabLst>
            </a:pPr>
            <a:r>
              <a:rPr sz="1200" dirty="0">
                <a:latin typeface="Times New Roman"/>
                <a:cs typeface="Times New Roman"/>
              </a:rPr>
              <a:t>What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trade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policies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strategies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improve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export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outcomes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model's</a:t>
            </a:r>
            <a:endParaRPr sz="1200" dirty="0">
              <a:latin typeface="Times New Roman"/>
              <a:cs typeface="Times New Roman"/>
            </a:endParaRPr>
          </a:p>
          <a:p>
            <a:pPr marL="460375">
              <a:lnSpc>
                <a:spcPts val="1435"/>
              </a:lnSpc>
              <a:spcBef>
                <a:spcPts val="60"/>
              </a:spcBef>
            </a:pPr>
            <a:r>
              <a:rPr sz="1200" spc="-10" dirty="0">
                <a:latin typeface="Times New Roman"/>
                <a:cs typeface="Times New Roman"/>
              </a:rPr>
              <a:t>findings?</a:t>
            </a:r>
            <a:endParaRPr sz="1200" dirty="0">
              <a:latin typeface="Times New Roman"/>
              <a:cs typeface="Times New Roman"/>
            </a:endParaRPr>
          </a:p>
          <a:p>
            <a:pPr marL="459740" lvl="2" indent="-227965">
              <a:lnSpc>
                <a:spcPts val="1425"/>
              </a:lnSpc>
              <a:buFont typeface="Wingdings"/>
              <a:buChar char=""/>
              <a:tabLst>
                <a:tab pos="459740" algn="l"/>
              </a:tabLst>
            </a:pP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accurately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predict </a:t>
            </a:r>
            <a:r>
              <a:rPr sz="1200" dirty="0">
                <a:latin typeface="Times New Roman"/>
                <a:cs typeface="Times New Roman"/>
              </a:rPr>
              <a:t>export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performance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historical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data?</a:t>
            </a:r>
            <a:endParaRPr sz="1200" dirty="0">
              <a:latin typeface="Times New Roman"/>
              <a:cs typeface="Times New Roman"/>
            </a:endParaRPr>
          </a:p>
          <a:p>
            <a:pPr marL="459740" lvl="2" indent="-227965">
              <a:lnSpc>
                <a:spcPts val="1425"/>
              </a:lnSpc>
              <a:buFont typeface="Wingdings"/>
              <a:buChar char=""/>
              <a:tabLst>
                <a:tab pos="459740" algn="l"/>
              </a:tabLst>
            </a:pP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identified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important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features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guide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trade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decision-</a:t>
            </a:r>
            <a:r>
              <a:rPr sz="1200" spc="-10" dirty="0">
                <a:latin typeface="Times New Roman"/>
                <a:cs typeface="Times New Roman"/>
              </a:rPr>
              <a:t>making?</a:t>
            </a:r>
            <a:endParaRPr sz="1200" dirty="0">
              <a:latin typeface="Times New Roman"/>
              <a:cs typeface="Times New Roman"/>
            </a:endParaRPr>
          </a:p>
          <a:p>
            <a:pPr marL="459740" lvl="2" indent="-227965">
              <a:lnSpc>
                <a:spcPts val="1425"/>
              </a:lnSpc>
              <a:buFont typeface="Wingdings"/>
              <a:buChar char=""/>
              <a:tabLst>
                <a:tab pos="459740" algn="l"/>
              </a:tabLst>
            </a:pP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clustering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identify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untapped </a:t>
            </a:r>
            <a:r>
              <a:rPr sz="1200" spc="-10" dirty="0">
                <a:latin typeface="Times New Roman"/>
                <a:cs typeface="Times New Roman"/>
              </a:rPr>
              <a:t>markets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high-potential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trade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opportunities?</a:t>
            </a:r>
            <a:endParaRPr sz="1200" dirty="0">
              <a:latin typeface="Times New Roman"/>
              <a:cs typeface="Times New Roman"/>
            </a:endParaRPr>
          </a:p>
          <a:p>
            <a:pPr marL="459740" lvl="2" indent="-227965">
              <a:lnSpc>
                <a:spcPts val="1430"/>
              </a:lnSpc>
              <a:buFont typeface="Wingdings"/>
              <a:buChar char=""/>
              <a:tabLst>
                <a:tab pos="459740" algn="l"/>
              </a:tabLst>
            </a:pP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businesses</a:t>
            </a:r>
            <a:r>
              <a:rPr sz="1200" dirty="0">
                <a:latin typeface="Times New Roman"/>
                <a:cs typeface="Times New Roman"/>
              </a:rPr>
              <a:t> or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governments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tailor </a:t>
            </a:r>
            <a:r>
              <a:rPr sz="1200" dirty="0">
                <a:latin typeface="Times New Roman"/>
                <a:cs typeface="Times New Roman"/>
              </a:rPr>
              <a:t>their</a:t>
            </a:r>
            <a:r>
              <a:rPr sz="1200" spc="-10" dirty="0">
                <a:latin typeface="Times New Roman"/>
                <a:cs typeface="Times New Roman"/>
              </a:rPr>
              <a:t> strategies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10" dirty="0">
                <a:latin typeface="Times New Roman"/>
                <a:cs typeface="Times New Roman"/>
              </a:rPr>
              <a:t> countries</a:t>
            </a:r>
            <a:r>
              <a:rPr sz="1200" dirty="0">
                <a:latin typeface="Times New Roman"/>
                <a:cs typeface="Times New Roman"/>
              </a:rPr>
              <a:t> or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commodities</a:t>
            </a:r>
            <a:endParaRPr sz="1200" dirty="0">
              <a:latin typeface="Times New Roman"/>
              <a:cs typeface="Times New Roman"/>
            </a:endParaRPr>
          </a:p>
          <a:p>
            <a:pPr marL="460375">
              <a:lnSpc>
                <a:spcPts val="1435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share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similar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trade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behaviors?</a:t>
            </a:r>
            <a:endParaRPr sz="1200" dirty="0">
              <a:latin typeface="Times New Roman"/>
              <a:cs typeface="Times New Roman"/>
            </a:endParaRPr>
          </a:p>
          <a:p>
            <a:pPr marL="459105" marR="12700" lvl="2" indent="-227965">
              <a:lnSpc>
                <a:spcPts val="1430"/>
              </a:lnSpc>
              <a:spcBef>
                <a:spcPts val="50"/>
              </a:spcBef>
              <a:buFont typeface="Wingdings"/>
              <a:buChar char=""/>
              <a:tabLst>
                <a:tab pos="460375" algn="l"/>
              </a:tabLst>
            </a:pPr>
            <a:r>
              <a:rPr sz="1200" dirty="0">
                <a:latin typeface="Times New Roman"/>
                <a:cs typeface="Times New Roman"/>
              </a:rPr>
              <a:t>What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factors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(e.g.,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commodity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type,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trade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volume)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contribute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country's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export 	</a:t>
            </a:r>
            <a:r>
              <a:rPr sz="1200" dirty="0">
                <a:latin typeface="Times New Roman"/>
                <a:cs typeface="Times New Roman"/>
              </a:rPr>
              <a:t>success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failure?</a:t>
            </a:r>
            <a:endParaRPr sz="1200" dirty="0">
              <a:latin typeface="Times New Roman"/>
              <a:cs typeface="Times New Roman"/>
            </a:endParaRPr>
          </a:p>
          <a:p>
            <a:pPr marL="295910" lvl="1" indent="-283210">
              <a:lnSpc>
                <a:spcPct val="100000"/>
              </a:lnSpc>
              <a:spcBef>
                <a:spcPts val="710"/>
              </a:spcBef>
              <a:buAutoNum type="arabicPeriod" startAt="2"/>
              <a:tabLst>
                <a:tab pos="295910" algn="l"/>
              </a:tabLst>
            </a:pPr>
            <a:r>
              <a:rPr sz="1400" dirty="0">
                <a:latin typeface="Times New Roman"/>
                <a:cs typeface="Times New Roman"/>
              </a:rPr>
              <a:t>Data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Sources</a:t>
            </a:r>
            <a:endParaRPr sz="1400" dirty="0">
              <a:latin typeface="Times New Roman"/>
              <a:cs typeface="Times New Roman"/>
            </a:endParaRPr>
          </a:p>
          <a:p>
            <a:pPr marL="12700" marR="17780">
              <a:lnSpc>
                <a:spcPts val="1430"/>
              </a:lnSpc>
              <a:spcBef>
                <a:spcPts val="53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primary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 in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obtained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official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Government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India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Portal:</a:t>
            </a:r>
            <a:endParaRPr sz="1200" dirty="0">
              <a:latin typeface="Times New Roman"/>
              <a:cs typeface="Times New Roman"/>
            </a:endParaRPr>
          </a:p>
          <a:p>
            <a:pPr marL="469900" marR="13970" lvl="2" indent="-228600">
              <a:lnSpc>
                <a:spcPct val="104099"/>
              </a:lnSpc>
              <a:spcBef>
                <a:spcPts val="630"/>
              </a:spcBef>
              <a:buFont typeface="Wingdings"/>
              <a:buChar char="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Source: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Directorate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General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Commercial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Intelligence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Statistics/Dataset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Name: </a:t>
            </a:r>
            <a:r>
              <a:rPr sz="1200" dirty="0">
                <a:latin typeface="Times New Roman"/>
                <a:cs typeface="Times New Roman"/>
              </a:rPr>
              <a:t>Exports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to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American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Countries</a:t>
            </a:r>
            <a:endParaRPr sz="1200" dirty="0">
              <a:latin typeface="Times New Roman"/>
              <a:cs typeface="Times New Roman"/>
            </a:endParaRPr>
          </a:p>
          <a:p>
            <a:pPr marL="469265" lvl="2" indent="-227965">
              <a:lnSpc>
                <a:spcPts val="1420"/>
              </a:lnSpc>
              <a:buFont typeface="Wingdings"/>
              <a:buChar char="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Format: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CSV</a:t>
            </a:r>
            <a:endParaRPr sz="1200" dirty="0">
              <a:latin typeface="Times New Roman"/>
              <a:cs typeface="Times New Roman"/>
            </a:endParaRPr>
          </a:p>
          <a:p>
            <a:pPr marL="469900" marR="11430" lvl="2" indent="-228600" algn="just">
              <a:lnSpc>
                <a:spcPts val="1430"/>
              </a:lnSpc>
              <a:spcBef>
                <a:spcPts val="45"/>
              </a:spcBef>
              <a:buFont typeface="Wingdings"/>
              <a:buChar char="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Description: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titled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"Exports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American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Countries"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collates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provides </a:t>
            </a:r>
            <a:r>
              <a:rPr sz="1200" dirty="0">
                <a:latin typeface="Times New Roman"/>
                <a:cs typeface="Times New Roman"/>
              </a:rPr>
              <a:t>comprehensive</a:t>
            </a:r>
            <a:r>
              <a:rPr sz="1200" spc="3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trade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pertaining</a:t>
            </a:r>
            <a:r>
              <a:rPr sz="1200" spc="3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products</a:t>
            </a:r>
            <a:r>
              <a:rPr sz="1200" spc="3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exported</a:t>
            </a:r>
            <a:r>
              <a:rPr sz="1200" spc="3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India</a:t>
            </a:r>
            <a:r>
              <a:rPr sz="1200" spc="3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various American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nations.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Sourced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from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official</a:t>
            </a:r>
            <a:r>
              <a:rPr sz="1200" spc="-10" dirty="0">
                <a:latin typeface="Times New Roman"/>
                <a:cs typeface="Times New Roman"/>
              </a:rPr>
              <a:t> government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database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trade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statistics,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</a:t>
            </a:r>
            <a:endParaRPr sz="1200" dirty="0">
              <a:latin typeface="Times New Roman"/>
              <a:cs typeface="Times New Roman"/>
            </a:endParaRPr>
          </a:p>
          <a:p>
            <a:pPr marL="469900" marR="6985" algn="just">
              <a:lnSpc>
                <a:spcPct val="99000"/>
              </a:lnSpc>
              <a:spcBef>
                <a:spcPts val="25"/>
              </a:spcBef>
            </a:pPr>
            <a:r>
              <a:rPr sz="1200" dirty="0">
                <a:latin typeface="Times New Roman"/>
                <a:cs typeface="Times New Roman"/>
              </a:rPr>
              <a:t>dataset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furnishes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detailed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insights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products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exported,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their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monetary </a:t>
            </a:r>
            <a:r>
              <a:rPr sz="1200" dirty="0">
                <a:latin typeface="Times New Roman"/>
                <a:cs typeface="Times New Roman"/>
              </a:rPr>
              <a:t>value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INR,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well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their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quantities.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Harmonized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(HS)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code </a:t>
            </a:r>
            <a:r>
              <a:rPr sz="1200" dirty="0">
                <a:latin typeface="Times New Roman"/>
                <a:cs typeface="Times New Roman"/>
              </a:rPr>
              <a:t>allows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international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uniformity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classifying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products.</a:t>
            </a:r>
            <a:endParaRPr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7256" y="830409"/>
            <a:ext cx="2421890" cy="30713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65"/>
              </a:spcBef>
            </a:pPr>
            <a:r>
              <a:rPr sz="1400" dirty="0">
                <a:latin typeface="Times New Roman"/>
                <a:cs typeface="Times New Roman"/>
              </a:rPr>
              <a:t>1.4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Dictionary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15478" y="7509509"/>
            <a:ext cx="254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Times New Roman"/>
                <a:cs typeface="Times New Roman"/>
              </a:rPr>
              <a:t>sify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06144" y="1468119"/>
          <a:ext cx="5836285" cy="8227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5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4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Column</a:t>
                      </a:r>
                      <a:r>
                        <a:rPr sz="12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46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ata</a:t>
                      </a:r>
                      <a:r>
                        <a:rPr sz="12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Type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46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3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Description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80645">
                        <a:lnSpc>
                          <a:spcPts val="1325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2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Integer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 marR="67945">
                        <a:lnSpc>
                          <a:spcPts val="135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unique</a:t>
                      </a:r>
                      <a:r>
                        <a:rPr sz="1200" spc="2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identifier</a:t>
                      </a:r>
                      <a:r>
                        <a:rPr sz="1200" spc="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2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each</a:t>
                      </a:r>
                      <a:r>
                        <a:rPr sz="1200" spc="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commodity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trade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record.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6435"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date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 marR="193675">
                        <a:lnSpc>
                          <a:spcPts val="1350"/>
                        </a:lnSpc>
                        <a:spcBef>
                          <a:spcPts val="229"/>
                        </a:spcBef>
                        <a:tabLst>
                          <a:tab pos="699770" algn="l"/>
                        </a:tabLst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Date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	(DD-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MM-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YYYY)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 marR="85725">
                        <a:lnSpc>
                          <a:spcPts val="1350"/>
                        </a:lnSpc>
                        <a:spcBef>
                          <a:spcPts val="45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date</a:t>
                      </a:r>
                      <a:r>
                        <a:rPr sz="1200" spc="1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transaction</a:t>
                      </a:r>
                      <a:r>
                        <a:rPr sz="1200" spc="2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(formatted</a:t>
                      </a:r>
                      <a:r>
                        <a:rPr sz="1200" spc="2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as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day-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month-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year).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marL="80645">
                        <a:lnSpc>
                          <a:spcPts val="133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country_name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3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String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 marR="121285">
                        <a:lnSpc>
                          <a:spcPts val="1350"/>
                        </a:lnSpc>
                        <a:spcBef>
                          <a:spcPts val="229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Name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country</a:t>
                      </a:r>
                      <a:r>
                        <a:rPr sz="12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involved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trade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(export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import).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760"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alpha_3_code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3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String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 marR="91440">
                        <a:lnSpc>
                          <a:spcPts val="1350"/>
                        </a:lnSpc>
                        <a:spcBef>
                          <a:spcPts val="23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ISO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3166-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2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alpha-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country</a:t>
                      </a:r>
                      <a:r>
                        <a:rPr sz="12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code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for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identifying</a:t>
                      </a:r>
                      <a:r>
                        <a:rPr sz="12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countries.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3585">
                <a:tc>
                  <a:txBody>
                    <a:bodyPr/>
                    <a:lstStyle/>
                    <a:p>
                      <a:pPr marL="806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country_code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Integer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ISO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3166-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numeric</a:t>
                      </a:r>
                      <a:r>
                        <a:rPr sz="12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country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code.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5270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86460">
                <a:tc>
                  <a:txBody>
                    <a:bodyPr/>
                    <a:lstStyle/>
                    <a:p>
                      <a:pPr marL="806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region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String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270" marR="244475">
                        <a:lnSpc>
                          <a:spcPts val="1350"/>
                        </a:lnSpc>
                        <a:spcBef>
                          <a:spcPts val="61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2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broader</a:t>
                      </a:r>
                      <a:r>
                        <a:rPr sz="1200" spc="1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geographic</a:t>
                      </a:r>
                      <a:r>
                        <a:rPr sz="1200" spc="3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region</a:t>
                      </a:r>
                      <a:r>
                        <a:rPr sz="1200" spc="2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(e.g., "Oceania").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80645">
                        <a:lnSpc>
                          <a:spcPts val="14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region_code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4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String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Numeric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representation</a:t>
                      </a:r>
                      <a:r>
                        <a:rPr sz="1200" spc="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region.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86435">
                <a:tc>
                  <a:txBody>
                    <a:bodyPr/>
                    <a:lstStyle/>
                    <a:p>
                      <a:pPr marL="80645">
                        <a:lnSpc>
                          <a:spcPts val="133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sub_region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3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String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 marR="96520">
                        <a:lnSpc>
                          <a:spcPts val="1350"/>
                        </a:lnSpc>
                        <a:spcBef>
                          <a:spcPts val="459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1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more</a:t>
                      </a:r>
                      <a:r>
                        <a:rPr sz="1200" spc="3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specific</a:t>
                      </a:r>
                      <a:r>
                        <a:rPr sz="1200" spc="3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geographical</a:t>
                      </a:r>
                      <a:r>
                        <a:rPr sz="1200" spc="3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grouping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within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region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(e.g.,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"Melanesia").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sub_region_code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3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Integer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Code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corresponding</a:t>
                      </a:r>
                      <a:r>
                        <a:rPr sz="12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sub-region.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86435">
                <a:tc>
                  <a:txBody>
                    <a:bodyPr/>
                    <a:lstStyle/>
                    <a:p>
                      <a:pPr marL="80645">
                        <a:lnSpc>
                          <a:spcPts val="14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hs_code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4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Integer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 marR="8890">
                        <a:lnSpc>
                          <a:spcPts val="1280"/>
                        </a:lnSpc>
                        <a:spcBef>
                          <a:spcPts val="59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Harmonized</a:t>
                      </a:r>
                      <a:r>
                        <a:rPr sz="1200" spc="11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200" spc="4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code</a:t>
                      </a:r>
                      <a:r>
                        <a:rPr sz="1200" spc="4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sz="1200" spc="11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4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clas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traded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commodities</a:t>
                      </a:r>
                      <a:r>
                        <a:rPr sz="12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internationally.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749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commodity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5270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String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 marR="191770">
                        <a:lnSpc>
                          <a:spcPts val="1280"/>
                        </a:lnSpc>
                        <a:spcBef>
                          <a:spcPts val="36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Description</a:t>
                      </a:r>
                      <a:r>
                        <a:rPr sz="1200" spc="2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name</a:t>
                      </a:r>
                      <a:r>
                        <a:rPr sz="1200" spc="1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commodity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being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traded.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905510">
                <a:tc>
                  <a:txBody>
                    <a:bodyPr/>
                    <a:lstStyle/>
                    <a:p>
                      <a:pPr marL="80645">
                        <a:lnSpc>
                          <a:spcPts val="132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Categories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2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String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 marR="103505" algn="just">
                        <a:lnSpc>
                          <a:spcPct val="93900"/>
                        </a:lnSpc>
                        <a:spcBef>
                          <a:spcPts val="6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3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commodity</a:t>
                      </a:r>
                      <a:r>
                        <a:rPr sz="1200" spc="10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falls</a:t>
                      </a:r>
                      <a:r>
                        <a:rPr sz="1200" spc="4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under</a:t>
                      </a:r>
                      <a:r>
                        <a:rPr sz="1200" spc="3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4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broad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classification</a:t>
                      </a:r>
                      <a:r>
                        <a:rPr sz="12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category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(e.g.,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"Food</a:t>
                      </a:r>
                      <a:r>
                        <a:rPr sz="12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Agricultural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Products").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825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06144" y="915416"/>
          <a:ext cx="5836285" cy="2505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5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4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pPr marL="80645">
                        <a:lnSpc>
                          <a:spcPts val="1330"/>
                        </a:lnSpc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unit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3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String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 marR="93345">
                        <a:lnSpc>
                          <a:spcPts val="1350"/>
                        </a:lnSpc>
                        <a:spcBef>
                          <a:spcPts val="68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Unit</a:t>
                      </a:r>
                      <a:r>
                        <a:rPr sz="1200" spc="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measurement</a:t>
                      </a:r>
                      <a:r>
                        <a:rPr sz="1200" spc="1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quantity</a:t>
                      </a:r>
                      <a:r>
                        <a:rPr sz="1200" spc="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commodity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(e.g.,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"Kgs").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863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marL="80645">
                        <a:lnSpc>
                          <a:spcPts val="132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value_qt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2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Float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 marR="199390">
                        <a:lnSpc>
                          <a:spcPts val="1350"/>
                        </a:lnSpc>
                        <a:spcBef>
                          <a:spcPts val="229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quantity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commodity</a:t>
                      </a:r>
                      <a:r>
                        <a:rPr sz="12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exported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traded is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expressed in the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given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unit.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9285">
                <a:tc>
                  <a:txBody>
                    <a:bodyPr/>
                    <a:lstStyle/>
                    <a:p>
                      <a:pPr marL="806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value_rs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Float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 marR="258445">
                        <a:lnSpc>
                          <a:spcPts val="1350"/>
                        </a:lnSpc>
                        <a:spcBef>
                          <a:spcPts val="309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Monetary</a:t>
                      </a:r>
                      <a:r>
                        <a:rPr sz="1200" spc="2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value</a:t>
                      </a:r>
                      <a:r>
                        <a:rPr sz="12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2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1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transaction</a:t>
                      </a:r>
                      <a:r>
                        <a:rPr sz="1200" spc="3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Indian Rupees</a:t>
                      </a:r>
                      <a:r>
                        <a:rPr sz="12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(INR).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806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value_dl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Float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 marR="59690">
                        <a:lnSpc>
                          <a:spcPts val="1280"/>
                        </a:lnSpc>
                        <a:spcBef>
                          <a:spcPts val="14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Monetary</a:t>
                      </a:r>
                      <a:r>
                        <a:rPr sz="12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value</a:t>
                      </a:r>
                      <a:r>
                        <a:rPr sz="12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transaction</a:t>
                      </a:r>
                      <a:r>
                        <a:rPr sz="1200" spc="2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20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US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Dollars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(USD).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02969" y="3696081"/>
            <a:ext cx="5029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Times New Roman"/>
                <a:cs typeface="Times New Roman"/>
              </a:rPr>
              <a:t>Table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1.4.1: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Dictionary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 Exports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American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Countries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IDP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32660" y="6546468"/>
            <a:ext cx="41090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Figure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1.4.2: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Preview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Exports-</a:t>
            </a:r>
            <a:r>
              <a:rPr sz="1200" spc="-30" dirty="0">
                <a:latin typeface="Times New Roman"/>
                <a:cs typeface="Times New Roman"/>
              </a:rPr>
              <a:t>to-</a:t>
            </a:r>
            <a:r>
              <a:rPr sz="1200" spc="-20" dirty="0">
                <a:latin typeface="Times New Roman"/>
                <a:cs typeface="Times New Roman"/>
              </a:rPr>
              <a:t>Oceanic-</a:t>
            </a:r>
            <a:r>
              <a:rPr sz="1200" dirty="0">
                <a:latin typeface="Times New Roman"/>
                <a:cs typeface="Times New Roman"/>
              </a:rPr>
              <a:t>Countries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Dataset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969" y="6802513"/>
            <a:ext cx="5310505" cy="1001394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160"/>
              </a:spcBef>
              <a:buAutoNum type="arabicPeriod" startAt="2"/>
              <a:tabLst>
                <a:tab pos="240665" algn="l"/>
              </a:tabLst>
            </a:pP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Collection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Integration</a:t>
            </a:r>
            <a:endParaRPr sz="1800">
              <a:latin typeface="Times New Roman"/>
              <a:cs typeface="Times New Roman"/>
            </a:endParaRPr>
          </a:p>
          <a:p>
            <a:pPr marL="295910" lvl="1" indent="-283210">
              <a:lnSpc>
                <a:spcPct val="100000"/>
              </a:lnSpc>
              <a:spcBef>
                <a:spcPts val="865"/>
              </a:spcBef>
              <a:buAutoNum type="arabicPeriod"/>
              <a:tabLst>
                <a:tab pos="295910" algn="l"/>
              </a:tabLst>
            </a:pPr>
            <a:r>
              <a:rPr sz="1400" dirty="0">
                <a:latin typeface="Times New Roman"/>
                <a:cs typeface="Times New Roman"/>
              </a:rPr>
              <a:t>Data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Source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8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Collection</a:t>
            </a:r>
            <a:endParaRPr sz="1400">
              <a:latin typeface="Times New Roman"/>
              <a:cs typeface="Times New Roman"/>
            </a:endParaRPr>
          </a:p>
          <a:p>
            <a:pPr marL="193675">
              <a:lnSpc>
                <a:spcPct val="100000"/>
              </a:lnSpc>
              <a:spcBef>
                <a:spcPts val="47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</a:t>
            </a:r>
            <a:r>
              <a:rPr sz="1200" spc="4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3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4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4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4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3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sourced</a:t>
            </a:r>
            <a:r>
              <a:rPr sz="1200" spc="4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12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Indian</a:t>
            </a:r>
            <a:r>
              <a:rPr sz="1200" spc="4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Portal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97419" y="7595234"/>
            <a:ext cx="3752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(IDP-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969" y="7776209"/>
            <a:ext cx="5756275" cy="166609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algn="just">
              <a:lnSpc>
                <a:spcPct val="99100"/>
              </a:lnSpc>
              <a:spcBef>
                <a:spcPts val="110"/>
              </a:spcBef>
            </a:pP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</a:rPr>
              <a:t>indiadataportal.com</a:t>
            </a:r>
            <a:r>
              <a:rPr sz="1200" dirty="0">
                <a:latin typeface="Times New Roman"/>
                <a:cs typeface="Times New Roman"/>
              </a:rPr>
              <a:t>).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compiled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sourced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official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website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India's </a:t>
            </a:r>
            <a:r>
              <a:rPr sz="1200" dirty="0">
                <a:latin typeface="Times New Roman"/>
                <a:cs typeface="Times New Roman"/>
              </a:rPr>
              <a:t>trade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statistics,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accuracy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reliability.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Harmonized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System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(HS)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codes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serve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universal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classification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allowing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both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nationally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internationally relevant.</a:t>
            </a:r>
            <a:endParaRPr sz="12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765"/>
              </a:spcBef>
            </a:pPr>
            <a:r>
              <a:rPr sz="1400" dirty="0">
                <a:latin typeface="Times New Roman"/>
                <a:cs typeface="Times New Roman"/>
              </a:rPr>
              <a:t>2.2</a:t>
            </a:r>
            <a:r>
              <a:rPr sz="1400" spc="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Provenance</a:t>
            </a:r>
            <a:endParaRPr sz="1400" dirty="0">
              <a:latin typeface="Times New Roman"/>
              <a:cs typeface="Times New Roman"/>
            </a:endParaRPr>
          </a:p>
          <a:p>
            <a:pPr marL="469265" indent="-227965">
              <a:lnSpc>
                <a:spcPts val="1435"/>
              </a:lnSpc>
              <a:spcBef>
                <a:spcPts val="470"/>
              </a:spcBef>
              <a:buFont typeface="Wingdings"/>
              <a:buChar char="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Source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Authority:),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Ministry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Commerce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Industry,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Government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India</a:t>
            </a:r>
            <a:endParaRPr sz="1200" dirty="0">
              <a:latin typeface="Times New Roman"/>
              <a:cs typeface="Times New Roman"/>
            </a:endParaRPr>
          </a:p>
          <a:p>
            <a:pPr marL="469265" indent="-227965">
              <a:lnSpc>
                <a:spcPts val="1425"/>
              </a:lnSpc>
              <a:buFont typeface="Wingdings"/>
              <a:buChar char="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Dataset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Format: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CSV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(Comma-</a:t>
            </a:r>
            <a:r>
              <a:rPr sz="1200" dirty="0">
                <a:latin typeface="Times New Roman"/>
                <a:cs typeface="Times New Roman"/>
              </a:rPr>
              <a:t>Separated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Values)</a:t>
            </a:r>
            <a:endParaRPr sz="1200" dirty="0">
              <a:latin typeface="Times New Roman"/>
              <a:cs typeface="Times New Roman"/>
            </a:endParaRPr>
          </a:p>
          <a:p>
            <a:pPr marL="469265" indent="-227965">
              <a:lnSpc>
                <a:spcPts val="1435"/>
              </a:lnSpc>
              <a:buFont typeface="Wingdings"/>
              <a:buChar char="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License: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Indian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School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Business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(ISB),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Government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License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India</a:t>
            </a:r>
            <a:endParaRPr sz="1200" dirty="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7892" y="4279391"/>
            <a:ext cx="5724525" cy="226695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8731250" y="9921875"/>
            <a:ext cx="215900" cy="178254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70"/>
              </a:spcBef>
            </a:pPr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969" y="812871"/>
            <a:ext cx="5757545" cy="73660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400" dirty="0">
                <a:latin typeface="Times New Roman"/>
                <a:cs typeface="Times New Roman"/>
              </a:rPr>
              <a:t>2.3</a:t>
            </a:r>
            <a:r>
              <a:rPr sz="1400" spc="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Integration</a:t>
            </a:r>
            <a:r>
              <a:rPr sz="1400" spc="6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Methodology</a:t>
            </a:r>
            <a:endParaRPr sz="1400">
              <a:latin typeface="Times New Roman"/>
              <a:cs typeface="Times New Roman"/>
            </a:endParaRPr>
          </a:p>
          <a:p>
            <a:pPr marL="12700" marR="5080" indent="180975">
              <a:lnSpc>
                <a:spcPts val="1430"/>
              </a:lnSpc>
              <a:spcBef>
                <a:spcPts val="53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integrated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pipeline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Python.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loaded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a </a:t>
            </a:r>
            <a:r>
              <a:rPr sz="1200" spc="-10" dirty="0">
                <a:latin typeface="Times New Roman"/>
                <a:cs typeface="Times New Roman"/>
              </a:rPr>
              <a:t>DataFrame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Pandas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library: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969" y="3009518"/>
            <a:ext cx="5755640" cy="93345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 indent="180975">
              <a:lnSpc>
                <a:spcPts val="1430"/>
              </a:lnSpc>
              <a:spcBef>
                <a:spcPts val="155"/>
              </a:spcBef>
            </a:pP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already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well-</a:t>
            </a:r>
            <a:r>
              <a:rPr sz="1200" dirty="0">
                <a:latin typeface="Times New Roman"/>
                <a:cs typeface="Times New Roman"/>
              </a:rPr>
              <a:t>structured</a:t>
            </a:r>
            <a:r>
              <a:rPr sz="1200" spc="4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complete,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merging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additional datasets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necessary.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fields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verified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consistency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naming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type.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1400" dirty="0">
                <a:latin typeface="Times New Roman"/>
                <a:cs typeface="Times New Roman"/>
              </a:rPr>
              <a:t>2.4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Initial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Validation</a:t>
            </a:r>
            <a:endParaRPr sz="1400">
              <a:latin typeface="Times New Roman"/>
              <a:cs typeface="Times New Roman"/>
            </a:endParaRPr>
          </a:p>
          <a:p>
            <a:pPr marL="193675">
              <a:lnSpc>
                <a:spcPct val="100000"/>
              </a:lnSpc>
              <a:spcBef>
                <a:spcPts val="40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dataset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underwent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initial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validation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process: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969" y="5545454"/>
            <a:ext cx="5758815" cy="7023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120"/>
              </a:spcBef>
            </a:pPr>
            <a:r>
              <a:rPr sz="1100" dirty="0">
                <a:latin typeface="Calibri"/>
                <a:cs typeface="Calibri"/>
              </a:rPr>
              <a:t>The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data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grouped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by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'commodity'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column,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total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export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value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('value_qt')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aggregated using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sum()</a:t>
            </a:r>
            <a:r>
              <a:rPr sz="1100" spc="-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function.</a:t>
            </a:r>
            <a:r>
              <a:rPr sz="1100" spc="-60" dirty="0">
                <a:latin typeface="Calibri"/>
                <a:cs typeface="Calibri"/>
              </a:rPr>
              <a:t> </a:t>
            </a:r>
            <a:r>
              <a:rPr sz="1100" spc="-40" dirty="0">
                <a:latin typeface="Calibri"/>
                <a:cs typeface="Calibri"/>
              </a:rPr>
              <a:t>The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results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spc="-45" dirty="0">
                <a:latin typeface="Calibri"/>
                <a:cs typeface="Calibri"/>
              </a:rPr>
              <a:t>are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then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sorted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descending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order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based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export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volume.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The </a:t>
            </a:r>
            <a:r>
              <a:rPr sz="1100" dirty="0">
                <a:latin typeface="Calibri"/>
                <a:cs typeface="Calibri"/>
              </a:rPr>
              <a:t>top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100</a:t>
            </a:r>
            <a:r>
              <a:rPr sz="1100" spc="-6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commodities,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 terms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cumulative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export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value,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are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selected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using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head(100)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function. </a:t>
            </a:r>
            <a:r>
              <a:rPr sz="1100" dirty="0">
                <a:latin typeface="Calibri"/>
                <a:cs typeface="Calibri"/>
              </a:rPr>
              <a:t>These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commodity names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are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stored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index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object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variable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top_100_commodities.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969" y="8777223"/>
            <a:ext cx="5754370" cy="88582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 algn="just">
              <a:lnSpc>
                <a:spcPct val="92500"/>
              </a:lnSpc>
              <a:spcBef>
                <a:spcPts val="204"/>
              </a:spcBef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subset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original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dataset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created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retaining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only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those rows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where the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'commodity'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among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top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100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commodities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identified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earlier.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filtered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dataset,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stored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filtered_df, </a:t>
            </a:r>
            <a:r>
              <a:rPr sz="1200" dirty="0">
                <a:latin typeface="Times New Roman"/>
                <a:cs typeface="Times New Roman"/>
              </a:rPr>
              <a:t>focuses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subsequent</a:t>
            </a:r>
            <a:r>
              <a:rPr sz="1200" spc="3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3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high-</a:t>
            </a:r>
            <a:r>
              <a:rPr sz="1200" dirty="0">
                <a:latin typeface="Times New Roman"/>
                <a:cs typeface="Times New Roman"/>
              </a:rPr>
              <a:t>impact</a:t>
            </a:r>
            <a:r>
              <a:rPr sz="1200" spc="3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exports,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thus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reducing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noise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3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less </a:t>
            </a:r>
            <a:r>
              <a:rPr sz="1200" dirty="0">
                <a:latin typeface="Times New Roman"/>
                <a:cs typeface="Times New Roman"/>
              </a:rPr>
              <a:t>significant</a:t>
            </a:r>
            <a:r>
              <a:rPr sz="1200" spc="4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entries.</a:t>
            </a:r>
            <a:r>
              <a:rPr sz="1200" spc="43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Finally,</a:t>
            </a:r>
            <a:r>
              <a:rPr sz="1200" spc="4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refined</a:t>
            </a:r>
            <a:r>
              <a:rPr sz="1200" spc="4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</a:t>
            </a:r>
            <a:r>
              <a:rPr sz="1200" spc="3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exported</a:t>
            </a:r>
            <a:r>
              <a:rPr sz="1200" spc="4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new</a:t>
            </a:r>
            <a:r>
              <a:rPr sz="1200" spc="3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CSV</a:t>
            </a:r>
            <a:r>
              <a:rPr sz="1200" spc="3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3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named </a:t>
            </a:r>
            <a:r>
              <a:rPr sz="1200" spc="-20" dirty="0">
                <a:latin typeface="Times New Roman"/>
                <a:cs typeface="Times New Roman"/>
              </a:rPr>
              <a:t>'top_100_commodities_full_data.csv'.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index=False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argument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ensures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row indices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are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1354" y="1647786"/>
            <a:ext cx="3657600" cy="126254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55850" y="4114546"/>
            <a:ext cx="3028950" cy="126682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55725" y="6765670"/>
            <a:ext cx="4848225" cy="1504949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8502650" y="9475723"/>
            <a:ext cx="215900" cy="20002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70"/>
              </a:spcBef>
            </a:pPr>
            <a:r>
              <a:rPr spc="-50" dirty="0"/>
              <a:t>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969" y="893191"/>
            <a:ext cx="5748020" cy="37020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275"/>
              </a:spcBef>
            </a:pP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included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output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file.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file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serves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</a:t>
            </a:r>
            <a:r>
              <a:rPr sz="1200" spc="-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further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analysis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and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visualization stages.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9169" y="7318756"/>
            <a:ext cx="560006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i="1" dirty="0">
                <a:latin typeface="Calibri"/>
                <a:cs typeface="Calibri"/>
              </a:rPr>
              <a:t>Img</a:t>
            </a:r>
            <a:r>
              <a:rPr sz="1100" i="1" spc="4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2.4.1:</a:t>
            </a:r>
            <a:r>
              <a:rPr sz="1100" i="1" spc="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Filtered</a:t>
            </a:r>
            <a:r>
              <a:rPr sz="1100" i="1" spc="4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Dataset</a:t>
            </a:r>
            <a:r>
              <a:rPr sz="1100" i="1" spc="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Displaying</a:t>
            </a:r>
            <a:r>
              <a:rPr sz="1100" i="1" spc="4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India’s</a:t>
            </a:r>
            <a:r>
              <a:rPr sz="1100" i="1" spc="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Top</a:t>
            </a:r>
            <a:r>
              <a:rPr sz="1100" i="1" spc="4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100</a:t>
            </a:r>
            <a:r>
              <a:rPr sz="1100" i="1" spc="5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Export</a:t>
            </a:r>
            <a:r>
              <a:rPr sz="1100" i="1" spc="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Commodities</a:t>
            </a:r>
            <a:r>
              <a:rPr sz="1100" i="1" spc="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to</a:t>
            </a:r>
            <a:r>
              <a:rPr sz="1100" i="1" spc="4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American</a:t>
            </a:r>
            <a:r>
              <a:rPr sz="1100" i="1" spc="4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Countries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2730" y="1429766"/>
            <a:ext cx="4514850" cy="572452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197850" y="9540875"/>
            <a:ext cx="215900" cy="20002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70"/>
              </a:spcBef>
            </a:pPr>
            <a:r>
              <a:rPr spc="-50" dirty="0"/>
              <a:t>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969" y="760832"/>
            <a:ext cx="5760085" cy="1341755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240665" indent="-227965" algn="just">
              <a:lnSpc>
                <a:spcPct val="100000"/>
              </a:lnSpc>
              <a:spcBef>
                <a:spcPts val="1065"/>
              </a:spcBef>
              <a:buAutoNum type="arabicPeriod" startAt="3"/>
              <a:tabLst>
                <a:tab pos="240665" algn="l"/>
              </a:tabLst>
            </a:pP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Cleaning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Preparation</a:t>
            </a:r>
            <a:endParaRPr sz="1800">
              <a:latin typeface="Times New Roman"/>
              <a:cs typeface="Times New Roman"/>
            </a:endParaRPr>
          </a:p>
          <a:p>
            <a:pPr marL="297180" lvl="1" indent="-284480" algn="just">
              <a:lnSpc>
                <a:spcPct val="100000"/>
              </a:lnSpc>
              <a:spcBef>
                <a:spcPts val="795"/>
              </a:spcBef>
              <a:buAutoNum type="arabicPeriod"/>
              <a:tabLst>
                <a:tab pos="297180" algn="l"/>
              </a:tabLst>
            </a:pPr>
            <a:r>
              <a:rPr sz="1400" dirty="0">
                <a:latin typeface="Times New Roman"/>
                <a:cs typeface="Times New Roman"/>
              </a:rPr>
              <a:t>Check</a:t>
            </a:r>
            <a:r>
              <a:rPr sz="1400" spc="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Shape,</a:t>
            </a:r>
            <a:r>
              <a:rPr sz="1400" spc="7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Data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Types,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Null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Values</a:t>
            </a:r>
            <a:endParaRPr sz="1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99100"/>
              </a:lnSpc>
              <a:spcBef>
                <a:spcPts val="484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dataset's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structure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integrity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carefully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assessed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initiate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cleaning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phase.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includes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24,891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Rows and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15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Cols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ranked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among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complete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confirmation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of </a:t>
            </a:r>
            <a:r>
              <a:rPr sz="1200" dirty="0">
                <a:latin typeface="Times New Roman"/>
                <a:cs typeface="Times New Roman"/>
              </a:rPr>
              <a:t>export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activities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global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top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100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commodities.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969" y="6565645"/>
            <a:ext cx="5756275" cy="1123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99"/>
              </a:lnSpc>
              <a:spcBef>
                <a:spcPts val="9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24,891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entries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15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attributes,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representing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different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features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India’s exports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American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countries.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There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no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missing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values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any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column,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showing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no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missing </a:t>
            </a:r>
            <a:r>
              <a:rPr sz="1200" dirty="0">
                <a:latin typeface="Times New Roman"/>
                <a:cs typeface="Times New Roman"/>
              </a:rPr>
              <a:t>data.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consist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integers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represent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identifiers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codes,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floats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quantities </a:t>
            </a:r>
            <a:r>
              <a:rPr sz="1200" dirty="0">
                <a:latin typeface="Times New Roman"/>
                <a:cs typeface="Times New Roman"/>
              </a:rPr>
              <a:t>(e.g.,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export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quantity,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values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USD)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objects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string-</a:t>
            </a:r>
            <a:r>
              <a:rPr sz="1200" dirty="0">
                <a:latin typeface="Times New Roman"/>
                <a:cs typeface="Times New Roman"/>
              </a:rPr>
              <a:t>type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fields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country </a:t>
            </a:r>
            <a:r>
              <a:rPr sz="1200" dirty="0">
                <a:latin typeface="Times New Roman"/>
                <a:cs typeface="Times New Roman"/>
              </a:rPr>
              <a:t>names,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dates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commodities.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small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usage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around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2.8 </a:t>
            </a:r>
            <a:r>
              <a:rPr sz="1200" dirty="0">
                <a:latin typeface="Times New Roman"/>
                <a:cs typeface="Times New Roman"/>
              </a:rPr>
              <a:t>MB,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making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perfect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analysis.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0550" y="2200529"/>
            <a:ext cx="4019550" cy="398145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102850" y="8855075"/>
            <a:ext cx="215900" cy="20002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70"/>
              </a:spcBef>
            </a:pPr>
            <a:r>
              <a:rPr spc="-50" dirty="0"/>
              <a:t>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969" y="6136640"/>
            <a:ext cx="5772150" cy="357187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18415" indent="180975" algn="just">
              <a:lnSpc>
                <a:spcPts val="1430"/>
              </a:lnSpc>
              <a:spcBef>
                <a:spcPts val="155"/>
              </a:spcBef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thorough null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across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variables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showed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fullness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was </a:t>
            </a:r>
            <a:r>
              <a:rPr sz="1200" spc="-20" dirty="0">
                <a:latin typeface="Times New Roman"/>
                <a:cs typeface="Times New Roman"/>
              </a:rPr>
              <a:t>achieved—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complete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without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lacking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values.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obviates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need for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imputation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deleting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rows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 confirms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 is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ready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subsequent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preprocessing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for </a:t>
            </a:r>
            <a:r>
              <a:rPr sz="1200" spc="-10" dirty="0">
                <a:latin typeface="Times New Roman"/>
                <a:cs typeface="Times New Roman"/>
              </a:rPr>
              <a:t>exploration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analysis.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705"/>
              </a:spcBef>
            </a:pPr>
            <a:r>
              <a:rPr sz="1400" dirty="0">
                <a:latin typeface="Times New Roman"/>
                <a:cs typeface="Times New Roman"/>
              </a:rPr>
              <a:t>3.2</a:t>
            </a:r>
            <a:r>
              <a:rPr sz="1400" spc="1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Outlier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Treatment</a:t>
            </a:r>
            <a:endParaRPr sz="1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9500"/>
              </a:lnSpc>
              <a:spcBef>
                <a:spcPts val="1195"/>
              </a:spcBef>
            </a:pPr>
            <a:r>
              <a:rPr sz="1100" dirty="0">
                <a:latin typeface="Calibri"/>
                <a:cs typeface="Calibri"/>
              </a:rPr>
              <a:t>As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means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evaluating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distribution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identify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outliers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key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numerical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variables— </a:t>
            </a:r>
            <a:r>
              <a:rPr sz="1100" dirty="0">
                <a:latin typeface="Calibri"/>
                <a:cs typeface="Calibri"/>
              </a:rPr>
              <a:t>value_qt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(export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quantity),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value_rs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(export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value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1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Indian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rupee)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value_dl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(export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value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13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US </a:t>
            </a:r>
            <a:r>
              <a:rPr sz="1100" dirty="0">
                <a:latin typeface="Calibri"/>
                <a:cs typeface="Calibri"/>
              </a:rPr>
              <a:t>dollar),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additional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analysis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was</a:t>
            </a:r>
            <a:r>
              <a:rPr sz="1100" spc="-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performed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by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fitting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logarithmic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transformation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generate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the </a:t>
            </a:r>
            <a:r>
              <a:rPr sz="1100" dirty="0">
                <a:latin typeface="Calibri"/>
                <a:cs typeface="Calibri"/>
              </a:rPr>
              <a:t>box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plot.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Log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(value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+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1)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was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used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correct</a:t>
            </a:r>
            <a:r>
              <a:rPr sz="1100" spc="1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skewness,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easier</a:t>
            </a:r>
            <a:r>
              <a:rPr sz="1100" spc="1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visualization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data </a:t>
            </a:r>
            <a:r>
              <a:rPr sz="1100" dirty="0">
                <a:latin typeface="Calibri"/>
                <a:cs typeface="Calibri"/>
              </a:rPr>
              <a:t>distribution </a:t>
            </a:r>
            <a:r>
              <a:rPr sz="1100" spc="-10" dirty="0">
                <a:latin typeface="Calibri"/>
                <a:cs typeface="Calibri"/>
              </a:rPr>
              <a:t>underlying.</a:t>
            </a:r>
            <a:endParaRPr sz="1100">
              <a:latin typeface="Calibri"/>
              <a:cs typeface="Calibri"/>
            </a:endParaRPr>
          </a:p>
          <a:p>
            <a:pPr marL="12700" marR="13335" algn="just">
              <a:lnSpc>
                <a:spcPct val="109900"/>
              </a:lnSpc>
              <a:spcBef>
                <a:spcPts val="1180"/>
              </a:spcBef>
            </a:pPr>
            <a:r>
              <a:rPr sz="1100" dirty="0">
                <a:latin typeface="Calibri"/>
                <a:cs typeface="Calibri"/>
              </a:rPr>
              <a:t>The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box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plots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show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several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outsourcing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outliers</a:t>
            </a:r>
            <a:r>
              <a:rPr sz="1100" spc="2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between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three.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These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outliers</a:t>
            </a:r>
            <a:r>
              <a:rPr sz="1100" spc="2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denote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outlier </a:t>
            </a:r>
            <a:r>
              <a:rPr sz="1100" dirty="0">
                <a:latin typeface="Calibri"/>
                <a:cs typeface="Calibri"/>
              </a:rPr>
              <a:t>export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transactions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that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not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fit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within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1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core</a:t>
            </a:r>
            <a:r>
              <a:rPr sz="1100" spc="10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1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dataset,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which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signify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1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circumstance</a:t>
            </a:r>
            <a:r>
              <a:rPr sz="1100" spc="11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of </a:t>
            </a:r>
            <a:r>
              <a:rPr sz="1100" dirty="0">
                <a:latin typeface="Calibri"/>
                <a:cs typeface="Calibri"/>
              </a:rPr>
              <a:t>particularly</a:t>
            </a:r>
            <a:r>
              <a:rPr sz="1100" spc="165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large</a:t>
            </a:r>
            <a:r>
              <a:rPr sz="1100" spc="140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value</a:t>
            </a:r>
            <a:r>
              <a:rPr sz="1100" spc="4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</a:t>
            </a:r>
            <a:r>
              <a:rPr sz="1100" spc="150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quantity</a:t>
            </a:r>
            <a:r>
              <a:rPr sz="1100" spc="43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export</a:t>
            </a:r>
            <a:r>
              <a:rPr sz="1100" spc="160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transactions</a:t>
            </a:r>
            <a:r>
              <a:rPr sz="1100" spc="4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195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48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particular</a:t>
            </a:r>
            <a:r>
              <a:rPr sz="1100" spc="145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commodity-</a:t>
            </a:r>
            <a:r>
              <a:rPr sz="1100" spc="-10" dirty="0">
                <a:latin typeface="Calibri"/>
                <a:cs typeface="Calibri"/>
              </a:rPr>
              <a:t>country </a:t>
            </a:r>
            <a:r>
              <a:rPr sz="1100" dirty="0">
                <a:latin typeface="Calibri"/>
                <a:cs typeface="Calibri"/>
              </a:rPr>
              <a:t>combination.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such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deviations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are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likely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international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trade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statistics,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where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specific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goods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(like </a:t>
            </a:r>
            <a:r>
              <a:rPr sz="1100" dirty="0">
                <a:latin typeface="Calibri"/>
                <a:cs typeface="Calibri"/>
              </a:rPr>
              <a:t>precious</a:t>
            </a:r>
            <a:r>
              <a:rPr sz="1100" spc="1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metals,</a:t>
            </a:r>
            <a:r>
              <a:rPr sz="1100" spc="1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industrial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equipment,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</a:t>
            </a:r>
            <a:r>
              <a:rPr sz="1100" spc="1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pharmaceuticals)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might</a:t>
            </a:r>
            <a:r>
              <a:rPr sz="1100" spc="1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exceptionally</a:t>
            </a:r>
            <a:r>
              <a:rPr sz="1100" spc="2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big</a:t>
            </a:r>
            <a:r>
              <a:rPr sz="1100" spc="1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1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terms</a:t>
            </a:r>
            <a:r>
              <a:rPr sz="1100" spc="12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of </a:t>
            </a:r>
            <a:r>
              <a:rPr sz="1100" dirty="0">
                <a:latin typeface="Calibri"/>
                <a:cs typeface="Calibri"/>
              </a:rPr>
              <a:t>value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volume.The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distinction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these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outliers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very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crucial,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since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they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may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affect</a:t>
            </a:r>
            <a:r>
              <a:rPr sz="1100" spc="1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aggregate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stats </a:t>
            </a:r>
            <a:r>
              <a:rPr sz="1100" dirty="0">
                <a:latin typeface="Calibri"/>
                <a:cs typeface="Calibri"/>
              </a:rPr>
              <a:t>(mean,</a:t>
            </a:r>
            <a:r>
              <a:rPr sz="1100" spc="-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standard</a:t>
            </a:r>
            <a:r>
              <a:rPr sz="1100" spc="-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deviation).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As</a:t>
            </a:r>
            <a:r>
              <a:rPr sz="1100" spc="-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result,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depending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target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analytical,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these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values might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either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3025" y="914400"/>
            <a:ext cx="2514600" cy="512305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807450" y="9608502"/>
            <a:ext cx="177800" cy="20002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-25" dirty="0">
                <a:latin typeface="Calibri"/>
                <a:cs typeface="Calibri"/>
              </a:rPr>
              <a:t>10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969" y="883666"/>
            <a:ext cx="5750560" cy="387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8000"/>
              </a:lnSpc>
              <a:spcBef>
                <a:spcPts val="95"/>
              </a:spcBef>
            </a:pPr>
            <a:r>
              <a:rPr sz="1100" dirty="0">
                <a:latin typeface="Calibri"/>
                <a:cs typeface="Calibri"/>
              </a:rPr>
              <a:t>be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kept</a:t>
            </a:r>
            <a:r>
              <a:rPr sz="1100" spc="1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1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strategic</a:t>
            </a:r>
            <a:r>
              <a:rPr sz="1100" spc="10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insights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</a:t>
            </a:r>
            <a:r>
              <a:rPr sz="1100" spc="1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modified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(e.g.,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winsorization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removal)</a:t>
            </a:r>
            <a:r>
              <a:rPr sz="1100" spc="1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prevent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distortion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in </a:t>
            </a:r>
            <a:r>
              <a:rPr sz="1100" dirty="0">
                <a:latin typeface="Calibri"/>
                <a:cs typeface="Calibri"/>
              </a:rPr>
              <a:t>modeling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applications.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969" y="3305175"/>
            <a:ext cx="5763895" cy="16192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635" algn="ctr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Times New Roman"/>
                <a:cs typeface="Times New Roman"/>
              </a:rPr>
              <a:t>Fig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3.2.1: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BoxPlot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Value_qt,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Value_rs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Value_dl</a:t>
            </a:r>
            <a:endParaRPr sz="1100">
              <a:latin typeface="Times New Roman"/>
              <a:cs typeface="Times New Roman"/>
            </a:endParaRPr>
          </a:p>
          <a:p>
            <a:pPr marL="12700" marR="5080" algn="just">
              <a:lnSpc>
                <a:spcPct val="99000"/>
              </a:lnSpc>
              <a:spcBef>
                <a:spcPts val="1220"/>
              </a:spcBef>
            </a:pPr>
            <a:r>
              <a:rPr sz="1200" spc="-5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first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option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removal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type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which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dataset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filtered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take</a:t>
            </a:r>
            <a:r>
              <a:rPr sz="1200" spc="-10" dirty="0">
                <a:latin typeface="Times New Roman"/>
                <a:cs typeface="Times New Roman"/>
              </a:rPr>
              <a:t> out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all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records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which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contains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values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beyond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IQR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based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intervals.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3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9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spc="-8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result,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this</a:t>
            </a:r>
            <a:r>
              <a:rPr sz="1200" spc="-20" dirty="0">
                <a:latin typeface="Times New Roman"/>
                <a:cs typeface="Times New Roman"/>
              </a:rPr>
              <a:t> yields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in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spc="-8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"clean"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set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without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outliers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that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could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either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have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effect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statistical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analysis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or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prediction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models.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The </a:t>
            </a:r>
            <a:r>
              <a:rPr sz="1200" spc="-10" dirty="0">
                <a:latin typeface="Times New Roman"/>
                <a:cs typeface="Times New Roman"/>
              </a:rPr>
              <a:t>second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approach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truncate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outliers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means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of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Winsorization.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this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tecnique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extreme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values</a:t>
            </a:r>
            <a:r>
              <a:rPr sz="1200" spc="-20" dirty="0">
                <a:latin typeface="Times New Roman"/>
                <a:cs typeface="Times New Roman"/>
              </a:rPr>
              <a:t> are</a:t>
            </a:r>
            <a:r>
              <a:rPr sz="1200" spc="-10" dirty="0">
                <a:latin typeface="Times New Roman"/>
                <a:cs typeface="Times New Roman"/>
              </a:rPr>
              <a:t> not</a:t>
            </a:r>
            <a:r>
              <a:rPr sz="1200" spc="-1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removed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replaced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but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instead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with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next</a:t>
            </a:r>
            <a:r>
              <a:rPr sz="1200" spc="-1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closest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values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september</a:t>
            </a:r>
            <a:r>
              <a:rPr sz="1200" spc="-5" dirty="0">
                <a:latin typeface="Times New Roman"/>
                <a:cs typeface="Times New Roman"/>
              </a:rPr>
              <a:t> Q1-</a:t>
            </a:r>
            <a:r>
              <a:rPr sz="1200" dirty="0">
                <a:latin typeface="Times New Roman"/>
                <a:cs typeface="Times New Roman"/>
              </a:rPr>
              <a:t>1.5 × </a:t>
            </a:r>
            <a:r>
              <a:rPr sz="1200" spc="-5" dirty="0">
                <a:latin typeface="Times New Roman"/>
                <a:cs typeface="Times New Roman"/>
              </a:rPr>
              <a:t>IQR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30" dirty="0">
                <a:latin typeface="Times New Roman"/>
                <a:cs typeface="Times New Roman"/>
              </a:rPr>
              <a:t>Q</a:t>
            </a:r>
            <a:r>
              <a:rPr sz="1200" dirty="0">
                <a:latin typeface="Times New Roman"/>
                <a:cs typeface="Times New Roman"/>
              </a:rPr>
              <a:t>3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+ 1.5 ×</a:t>
            </a:r>
            <a:r>
              <a:rPr sz="1200" spc="-5" dirty="0">
                <a:latin typeface="Times New Roman"/>
                <a:cs typeface="Times New Roman"/>
              </a:rPr>
              <a:t> IQR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10" dirty="0">
                <a:latin typeface="Times New Roman"/>
                <a:cs typeface="Times New Roman"/>
              </a:rPr>
              <a:t>as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conserve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database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duration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whilst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controlling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level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outliers.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969" y="8301904"/>
            <a:ext cx="5756910" cy="137033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715"/>
              </a:spcBef>
            </a:pPr>
            <a:r>
              <a:rPr sz="1100" dirty="0">
                <a:latin typeface="Times New Roman"/>
                <a:cs typeface="Times New Roman"/>
              </a:rPr>
              <a:t>Fig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3.2.2:-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Boxplot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after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Outlier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Removal</a:t>
            </a:r>
            <a:endParaRPr sz="11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780"/>
              </a:spcBef>
            </a:pPr>
            <a:r>
              <a:rPr sz="1400" dirty="0">
                <a:latin typeface="Times New Roman"/>
                <a:cs typeface="Times New Roman"/>
              </a:rPr>
              <a:t>3.3</a:t>
            </a:r>
            <a:r>
              <a:rPr sz="1400" spc="7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Data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Type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Corrections</a:t>
            </a:r>
            <a:endParaRPr sz="1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800"/>
              </a:lnSpc>
              <a:spcBef>
                <a:spcPts val="390"/>
              </a:spcBef>
            </a:pP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conversion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significant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aspect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preprocessing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step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empirical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studies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every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variable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formatted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right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type—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going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numeric,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categorical,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boolean,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datetime—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only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preserves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semantic </a:t>
            </a:r>
            <a:r>
              <a:rPr sz="1200" spc="-20" dirty="0">
                <a:latin typeface="Times New Roman"/>
                <a:cs typeface="Times New Roman"/>
              </a:rPr>
              <a:t>integrity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spc="-8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data</a:t>
            </a:r>
            <a:r>
              <a:rPr sz="1200" spc="-8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set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and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makes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computation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accurate.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Invalid </a:t>
            </a:r>
            <a:r>
              <a:rPr sz="1200" spc="-1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types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will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ruin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statistical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6658" y="1466964"/>
            <a:ext cx="5675211" cy="18115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54115" y="5141305"/>
            <a:ext cx="4686352" cy="303694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502650" y="9572221"/>
            <a:ext cx="177800" cy="20002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-25" dirty="0">
                <a:latin typeface="Calibri"/>
                <a:cs typeface="Calibri"/>
              </a:rPr>
              <a:t>11</a:t>
            </a:r>
            <a:endParaRPr sz="1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969" y="893191"/>
            <a:ext cx="5758180" cy="1848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99600"/>
              </a:lnSpc>
              <a:spcBef>
                <a:spcPts val="105"/>
              </a:spcBef>
            </a:pPr>
            <a:r>
              <a:rPr sz="1200" spc="-10" dirty="0">
                <a:latin typeface="Times New Roman"/>
                <a:cs typeface="Times New Roman"/>
              </a:rPr>
              <a:t>analysis,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halt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4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learning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process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add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very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</a:t>
            </a:r>
            <a:r>
              <a:rPr sz="1200" spc="-20" dirty="0">
                <a:latin typeface="Times New Roman"/>
                <a:cs typeface="Times New Roman"/>
              </a:rPr>
              <a:t> frequent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errors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both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descriptive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inferential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analyses.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illustrate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example,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mathematical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operations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cannot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be </a:t>
            </a:r>
            <a:r>
              <a:rPr sz="1200" dirty="0">
                <a:latin typeface="Times New Roman"/>
                <a:cs typeface="Times New Roman"/>
              </a:rPr>
              <a:t>carried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variable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given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error,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been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saved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string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temporal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analysis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impossible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if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related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35" dirty="0">
                <a:latin typeface="Times New Roman"/>
                <a:cs typeface="Times New Roman"/>
              </a:rPr>
              <a:t>data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converted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into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standardized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datetime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format.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addition, correct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improves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computational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performance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optimizing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usage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processing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rate,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 </a:t>
            </a:r>
            <a:r>
              <a:rPr sz="1200" spc="-10" dirty="0">
                <a:latin typeface="Times New Roman"/>
                <a:cs typeface="Times New Roman"/>
              </a:rPr>
              <a:t>particular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big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sets.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also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allows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severely</a:t>
            </a:r>
            <a:r>
              <a:rPr sz="1200" dirty="0">
                <a:latin typeface="Times New Roman"/>
                <a:cs typeface="Times New Roman"/>
              </a:rPr>
              <a:t> robusting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devices </a:t>
            </a:r>
            <a:r>
              <a:rPr sz="1200" dirty="0">
                <a:latin typeface="Times New Roman"/>
                <a:cs typeface="Times New Roman"/>
              </a:rPr>
              <a:t>validation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verification,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hence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strengthens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reliability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obedience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research </a:t>
            </a:r>
            <a:r>
              <a:rPr sz="1200" dirty="0">
                <a:latin typeface="Times New Roman"/>
                <a:cs typeface="Times New Roman"/>
              </a:rPr>
              <a:t>solutions.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Therefore,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correction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types,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essential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steps,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ensures,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only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methodological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soundness,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also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operational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feasibility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analytical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tasks performed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thereafter.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969" y="3267075"/>
            <a:ext cx="5756910" cy="324929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43815">
              <a:lnSpc>
                <a:spcPct val="109900"/>
              </a:lnSpc>
              <a:spcBef>
                <a:spcPts val="70"/>
              </a:spcBef>
            </a:pPr>
            <a:r>
              <a:rPr sz="1100" dirty="0">
                <a:latin typeface="Calibri"/>
                <a:cs typeface="Calibri"/>
              </a:rPr>
              <a:t>In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operation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above,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data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type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'country_code'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column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explicitly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cast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from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float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integer </a:t>
            </a:r>
            <a:r>
              <a:rPr sz="1100" dirty="0">
                <a:latin typeface="Calibri"/>
                <a:cs typeface="Calibri"/>
              </a:rPr>
              <a:t>by the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.astype(int)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function.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This conversion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 necessary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because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country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codes </a:t>
            </a:r>
            <a:r>
              <a:rPr sz="1100" spc="-10" dirty="0">
                <a:latin typeface="Calibri"/>
                <a:cs typeface="Calibri"/>
              </a:rPr>
              <a:t>are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category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labels </a:t>
            </a:r>
            <a:r>
              <a:rPr sz="1100" dirty="0">
                <a:latin typeface="Calibri"/>
                <a:cs typeface="Calibri"/>
              </a:rPr>
              <a:t>and cannot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allowed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 contain </a:t>
            </a:r>
            <a:r>
              <a:rPr sz="1100" spc="-10" dirty="0">
                <a:latin typeface="Calibri"/>
                <a:cs typeface="Calibri"/>
              </a:rPr>
              <a:t>decimal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components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which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are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inherent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default float </a:t>
            </a:r>
            <a:r>
              <a:rPr sz="1100" dirty="0">
                <a:latin typeface="Calibri"/>
                <a:cs typeface="Calibri"/>
              </a:rPr>
              <a:t>representation.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Keeping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such </a:t>
            </a:r>
            <a:r>
              <a:rPr sz="1100" spc="-10" dirty="0">
                <a:latin typeface="Calibri"/>
                <a:cs typeface="Calibri"/>
              </a:rPr>
              <a:t>identifiers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within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floats may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incur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 misunderstandings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or </a:t>
            </a:r>
            <a:r>
              <a:rPr sz="1100" dirty="0">
                <a:latin typeface="Calibri"/>
                <a:cs typeface="Calibri"/>
              </a:rPr>
              <a:t>computational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slownesses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while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approaching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data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treatment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analysis.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By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committing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the </a:t>
            </a:r>
            <a:r>
              <a:rPr sz="1100" dirty="0">
                <a:latin typeface="Calibri"/>
                <a:cs typeface="Calibri"/>
              </a:rPr>
              <a:t>integer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type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dataset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more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correctly</a:t>
            </a:r>
            <a:r>
              <a:rPr sz="1100" dirty="0">
                <a:latin typeface="Calibri"/>
                <a:cs typeface="Calibri"/>
              </a:rPr>
              <a:t> aligned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semantic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meaning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variable, achieving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more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precise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better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overall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data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integrity.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1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3.4</a:t>
            </a:r>
            <a:r>
              <a:rPr sz="1400" spc="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Normalize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Numerical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Features</a:t>
            </a:r>
            <a:endParaRPr sz="1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99100"/>
              </a:lnSpc>
              <a:spcBef>
                <a:spcPts val="484"/>
              </a:spcBef>
            </a:pPr>
            <a:r>
              <a:rPr sz="1200" spc="-20" dirty="0">
                <a:latin typeface="Times New Roman"/>
                <a:cs typeface="Times New Roman"/>
              </a:rPr>
              <a:t>Standardization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key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precursory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step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that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normalizes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numerical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feature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have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mean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equal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zero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and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complete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deviation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of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one.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This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prevents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those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features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from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dominating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model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due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differences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in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scale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and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means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that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each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feature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contributes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equally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model.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It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also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enhances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performance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and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convergence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speed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of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numerous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machine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learning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algorithms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especially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these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that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depend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at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least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 </a:t>
            </a:r>
            <a:r>
              <a:rPr sz="1200" spc="-25" dirty="0">
                <a:latin typeface="Times New Roman"/>
                <a:cs typeface="Times New Roman"/>
              </a:rPr>
              <a:t>certain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extent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 </a:t>
            </a:r>
            <a:r>
              <a:rPr sz="1200" spc="-20" dirty="0">
                <a:latin typeface="Times New Roman"/>
                <a:cs typeface="Times New Roman"/>
              </a:rPr>
              <a:t>distance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metrics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gradient-</a:t>
            </a:r>
            <a:r>
              <a:rPr sz="1200" spc="-15" dirty="0">
                <a:latin typeface="Times New Roman"/>
                <a:cs typeface="Times New Roman"/>
              </a:rPr>
              <a:t>based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optimization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methods.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B</a:t>
            </a:r>
            <a:r>
              <a:rPr sz="1200" dirty="0">
                <a:latin typeface="Times New Roman"/>
                <a:cs typeface="Times New Roman"/>
              </a:rPr>
              <a:t>y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entering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into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spc="-8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standard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we</a:t>
            </a:r>
            <a:r>
              <a:rPr sz="1200" spc="-8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ensure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that,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model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outcomes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can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 </a:t>
            </a:r>
            <a:r>
              <a:rPr sz="1200" spc="-25" dirty="0">
                <a:latin typeface="Times New Roman"/>
                <a:cs typeface="Times New Roman"/>
              </a:rPr>
              <a:t>more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accurate,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stable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understandable.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969" y="7528559"/>
            <a:ext cx="5763895" cy="20866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7620" algn="just">
              <a:lnSpc>
                <a:spcPct val="100099"/>
              </a:lnSpc>
              <a:spcBef>
                <a:spcPts val="9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code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applies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StandardScaler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sklearn.preprocessing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module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scale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numerical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features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value_qt,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value_rs,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value_dl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dataset.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Standardization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involves </a:t>
            </a:r>
            <a:r>
              <a:rPr sz="1200" dirty="0">
                <a:latin typeface="Times New Roman"/>
                <a:cs typeface="Times New Roman"/>
              </a:rPr>
              <a:t>bringing 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 to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have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zero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variance of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allows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better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performance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results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algorithms.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reconfiguration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three features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 in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same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range, so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that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large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magnitude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does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dominate.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scaled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redistributed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back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 the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original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columns,</a:t>
            </a:r>
            <a:r>
              <a:rPr sz="1200" dirty="0">
                <a:latin typeface="Times New Roman"/>
                <a:cs typeface="Times New Roman"/>
              </a:rPr>
              <a:t> in the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DataFrame.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140"/>
              </a:spcBef>
            </a:pPr>
            <a:r>
              <a:rPr sz="1400" dirty="0">
                <a:latin typeface="Times New Roman"/>
                <a:cs typeface="Times New Roman"/>
              </a:rPr>
              <a:t>3.5</a:t>
            </a:r>
            <a:r>
              <a:rPr sz="1400" spc="1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Encode</a:t>
            </a:r>
            <a:r>
              <a:rPr sz="1400" spc="7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Categorical Variables</a:t>
            </a:r>
            <a:endParaRPr sz="1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99000"/>
              </a:lnSpc>
              <a:spcBef>
                <a:spcPts val="484"/>
              </a:spcBef>
            </a:pPr>
            <a:r>
              <a:rPr sz="1200" dirty="0">
                <a:latin typeface="Times New Roman"/>
                <a:cs typeface="Times New Roman"/>
              </a:rPr>
              <a:t>Transferring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categorical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variables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turning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non-</a:t>
            </a:r>
            <a:r>
              <a:rPr sz="1200" dirty="0">
                <a:latin typeface="Times New Roman"/>
                <a:cs typeface="Times New Roman"/>
              </a:rPr>
              <a:t>numerical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information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(e.g. </a:t>
            </a:r>
            <a:r>
              <a:rPr sz="1200" dirty="0">
                <a:latin typeface="Times New Roman"/>
                <a:cs typeface="Times New Roman"/>
              </a:rPr>
              <a:t>place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names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commodity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varieties)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numerical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order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learning algorithms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interpret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properly.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838437"/>
            <a:ext cx="5362575" cy="34176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6610604"/>
            <a:ext cx="5724525" cy="77152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959850" y="9236075"/>
            <a:ext cx="215900" cy="20002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969" y="2342133"/>
            <a:ext cx="5759450" cy="5509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715" algn="just">
              <a:lnSpc>
                <a:spcPct val="100099"/>
              </a:lnSpc>
              <a:spcBef>
                <a:spcPts val="95"/>
              </a:spcBef>
            </a:pPr>
            <a:r>
              <a:rPr sz="1200" spc="-10" dirty="0">
                <a:latin typeface="Times New Roman"/>
                <a:cs typeface="Times New Roman"/>
              </a:rPr>
              <a:t>The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supplied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code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4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LabelEncoder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4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sklearn.preprocessing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where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categorical </a:t>
            </a:r>
            <a:r>
              <a:rPr sz="1200" dirty="0">
                <a:latin typeface="Times New Roman"/>
                <a:cs typeface="Times New Roman"/>
              </a:rPr>
              <a:t>columns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dataset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flattened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into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numerical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values.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columns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specified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label_cols, </a:t>
            </a:r>
            <a:r>
              <a:rPr sz="1200" dirty="0">
                <a:latin typeface="Times New Roman"/>
                <a:cs typeface="Times New Roman"/>
              </a:rPr>
              <a:t>like</a:t>
            </a:r>
            <a:r>
              <a:rPr sz="1200" spc="4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'country_name',</a:t>
            </a:r>
            <a:r>
              <a:rPr sz="1200" spc="4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'alpha_3_code',</a:t>
            </a:r>
            <a:r>
              <a:rPr sz="1200" spc="4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'region',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'sub_region',</a:t>
            </a:r>
            <a:r>
              <a:rPr sz="1200" spc="4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'commodity',</a:t>
            </a:r>
            <a:r>
              <a:rPr sz="1200" spc="4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'unit'</a:t>
            </a:r>
            <a:r>
              <a:rPr sz="1200" spc="4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taken </a:t>
            </a:r>
            <a:r>
              <a:rPr sz="1200" dirty="0">
                <a:latin typeface="Times New Roman"/>
                <a:cs typeface="Times New Roman"/>
              </a:rPr>
              <a:t>iteratively</a:t>
            </a:r>
            <a:r>
              <a:rPr sz="1200" spc="3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transformed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unique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assigned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unique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integer.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This </a:t>
            </a:r>
            <a:r>
              <a:rPr sz="1200" spc="-10" dirty="0">
                <a:latin typeface="Times New Roman"/>
                <a:cs typeface="Times New Roman"/>
              </a:rPr>
              <a:t>encoding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necessary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allowing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learning algorithms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on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categorical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data,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majority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algorithms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require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numeric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input.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200">
              <a:latin typeface="Times New Roman"/>
              <a:cs typeface="Times New Roman"/>
            </a:endParaRPr>
          </a:p>
          <a:p>
            <a:pPr marL="182880" indent="-174625" algn="just">
              <a:lnSpc>
                <a:spcPct val="100000"/>
              </a:lnSpc>
              <a:buSzPct val="94444"/>
              <a:buAutoNum type="arabicPeriod" startAt="4"/>
              <a:tabLst>
                <a:tab pos="182880" algn="l"/>
              </a:tabLst>
            </a:pPr>
            <a:r>
              <a:rPr sz="1800" dirty="0">
                <a:latin typeface="Times New Roman"/>
                <a:cs typeface="Times New Roman"/>
              </a:rPr>
              <a:t>Exploratory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10" dirty="0">
                <a:latin typeface="Times New Roman"/>
                <a:cs typeface="Times New Roman"/>
              </a:rPr>
              <a:t> Analysis</a:t>
            </a:r>
            <a:endParaRPr sz="1800">
              <a:latin typeface="Times New Roman"/>
              <a:cs typeface="Times New Roman"/>
            </a:endParaRPr>
          </a:p>
          <a:p>
            <a:pPr marL="12700" marR="6350" algn="just">
              <a:lnSpc>
                <a:spcPct val="99500"/>
              </a:lnSpc>
              <a:spcBef>
                <a:spcPts val="475"/>
              </a:spcBef>
            </a:pPr>
            <a:r>
              <a:rPr sz="1200" spc="-10" dirty="0">
                <a:latin typeface="Times New Roman"/>
                <a:cs typeface="Times New Roman"/>
              </a:rPr>
              <a:t>Exploratory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45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(EDA)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upfront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part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science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and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statistical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modelling pipeline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goal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conducting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systematic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examination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10" dirty="0">
                <a:latin typeface="Times New Roman"/>
                <a:cs typeface="Times New Roman"/>
              </a:rPr>
              <a:t> during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outward </a:t>
            </a:r>
            <a:r>
              <a:rPr sz="1200" dirty="0">
                <a:latin typeface="Times New Roman"/>
                <a:cs typeface="Times New Roman"/>
              </a:rPr>
              <a:t>before</a:t>
            </a:r>
            <a:r>
              <a:rPr sz="1200" spc="-8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formal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modeling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techniques</a:t>
            </a:r>
            <a:r>
              <a:rPr sz="1200" dirty="0">
                <a:latin typeface="Times New Roman"/>
                <a:cs typeface="Times New Roman"/>
              </a:rPr>
              <a:t> is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applied.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goal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EDA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 to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deep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insights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into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given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data-</a:t>
            </a:r>
            <a:r>
              <a:rPr sz="1200" dirty="0">
                <a:latin typeface="Times New Roman"/>
                <a:cs typeface="Times New Roman"/>
              </a:rPr>
              <a:t>set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descriptive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statistics,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visualization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techniques,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also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knowledge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domain.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histograms,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boxplots,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heatmaps,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scatter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plots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pair </a:t>
            </a:r>
            <a:r>
              <a:rPr sz="1200" dirty="0">
                <a:latin typeface="Times New Roman"/>
                <a:cs typeface="Times New Roman"/>
              </a:rPr>
              <a:t>plots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analyze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trend,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correlations,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distribution,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possible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anomalies,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limitations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category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missing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values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outliers.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Additionally,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EDA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helps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identifying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patterns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on </a:t>
            </a:r>
            <a:r>
              <a:rPr sz="1200" dirty="0">
                <a:latin typeface="Times New Roman"/>
                <a:cs typeface="Times New Roman"/>
              </a:rPr>
              <a:t>categorical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numerical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variables,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checking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multicollinearity</a:t>
            </a:r>
            <a:r>
              <a:rPr sz="1200" spc="4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well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possible feature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engineering.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finding 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hidden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patterns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data,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EDA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guides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procedures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for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cleansing,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selects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best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variables,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enhances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performance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interpretability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stability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further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predictive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models.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 general,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EDA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makes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data-</a:t>
            </a:r>
            <a:r>
              <a:rPr sz="1200" dirty="0">
                <a:latin typeface="Times New Roman"/>
                <a:cs typeface="Times New Roman"/>
              </a:rPr>
              <a:t>driven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decisions </a:t>
            </a:r>
            <a:r>
              <a:rPr sz="1200" spc="-35" dirty="0">
                <a:latin typeface="Times New Roman"/>
                <a:cs typeface="Times New Roman"/>
              </a:rPr>
              <a:t>reality-</a:t>
            </a:r>
            <a:r>
              <a:rPr sz="1200" dirty="0">
                <a:latin typeface="Times New Roman"/>
                <a:cs typeface="Times New Roman"/>
              </a:rPr>
              <a:t>based,</a:t>
            </a:r>
            <a:r>
              <a:rPr sz="1200" spc="25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assumption-</a:t>
            </a:r>
            <a:r>
              <a:rPr sz="1200" spc="-10" dirty="0">
                <a:latin typeface="Times New Roman"/>
                <a:cs typeface="Times New Roman"/>
              </a:rPr>
              <a:t>based.</a:t>
            </a:r>
            <a:endParaRPr sz="1200">
              <a:latin typeface="Times New Roman"/>
              <a:cs typeface="Times New Roman"/>
            </a:endParaRPr>
          </a:p>
          <a:p>
            <a:pPr marL="295910" lvl="1" indent="-283210" algn="just">
              <a:lnSpc>
                <a:spcPct val="100000"/>
              </a:lnSpc>
              <a:spcBef>
                <a:spcPts val="760"/>
              </a:spcBef>
              <a:buAutoNum type="arabicPeriod"/>
              <a:tabLst>
                <a:tab pos="295910" algn="l"/>
              </a:tabLst>
            </a:pPr>
            <a:r>
              <a:rPr sz="1400" dirty="0">
                <a:latin typeface="Times New Roman"/>
                <a:cs typeface="Times New Roman"/>
              </a:rPr>
              <a:t>Descriptive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Statistics</a:t>
            </a:r>
            <a:endParaRPr sz="1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99900"/>
              </a:lnSpc>
              <a:spcBef>
                <a:spcPts val="475"/>
              </a:spcBef>
            </a:pPr>
            <a:r>
              <a:rPr sz="1200" dirty="0">
                <a:latin typeface="Times New Roman"/>
                <a:cs typeface="Times New Roman"/>
              </a:rPr>
              <a:t>Descriptive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statistics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statistics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summarize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describe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essential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features </a:t>
            </a:r>
            <a:r>
              <a:rPr sz="1200" spc="-25" dirty="0">
                <a:latin typeface="Times New Roman"/>
                <a:cs typeface="Times New Roman"/>
              </a:rPr>
              <a:t>of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quantitative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method.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give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simple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descriptions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sample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measures,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e.g.,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mean,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median,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standard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deviation,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minimum,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maximum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range.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simple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statistics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give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information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central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tendency, </a:t>
            </a:r>
            <a:r>
              <a:rPr sz="1200" dirty="0">
                <a:latin typeface="Times New Roman"/>
                <a:cs typeface="Times New Roman"/>
              </a:rPr>
              <a:t>spread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general </a:t>
            </a:r>
            <a:r>
              <a:rPr sz="1200" dirty="0">
                <a:latin typeface="Times New Roman"/>
                <a:cs typeface="Times New Roman"/>
              </a:rPr>
              <a:t>nature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it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premise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apply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difficult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Descriptive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statistics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is </a:t>
            </a:r>
            <a:r>
              <a:rPr sz="1200" dirty="0">
                <a:latin typeface="Times New Roman"/>
                <a:cs typeface="Times New Roman"/>
              </a:rPr>
              <a:t>crucial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identifying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trends,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outliers,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basis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contrasting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across different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segments</a:t>
            </a:r>
            <a:r>
              <a:rPr sz="1200" dirty="0">
                <a:latin typeface="Times New Roman"/>
                <a:cs typeface="Times New Roman"/>
              </a:rPr>
              <a:t> of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data.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914400"/>
            <a:ext cx="5724525" cy="12858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426450" y="8855075"/>
            <a:ext cx="215900" cy="20002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969" y="3209925"/>
            <a:ext cx="5762625" cy="40595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99"/>
              </a:lnSpc>
              <a:spcBef>
                <a:spcPts val="9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set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consists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24,891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uniformly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distributed</a:t>
            </a:r>
            <a:r>
              <a:rPr sz="1200" spc="3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record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organized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variety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of </a:t>
            </a:r>
            <a:r>
              <a:rPr sz="1200" dirty="0">
                <a:latin typeface="Times New Roman"/>
                <a:cs typeface="Times New Roman"/>
              </a:rPr>
              <a:t>recommendation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cases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global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geographical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transactional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coverage.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country_code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fields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have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great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variability;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large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range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both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entities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countries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are </a:t>
            </a:r>
            <a:r>
              <a:rPr sz="1200" dirty="0">
                <a:latin typeface="Times New Roman"/>
                <a:cs typeface="Times New Roman"/>
              </a:rPr>
              <a:t>present.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other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hand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 the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coin,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region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code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remains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fixed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provides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analytical info.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field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sub_region_code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hs_code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show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moderate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variability,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implies </a:t>
            </a:r>
            <a:r>
              <a:rPr sz="1200" dirty="0">
                <a:latin typeface="Times New Roman"/>
                <a:cs typeface="Times New Roman"/>
              </a:rPr>
              <a:t>different</a:t>
            </a:r>
            <a:r>
              <a:rPr sz="1200" spc="3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subdivision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regions</a:t>
            </a:r>
            <a:r>
              <a:rPr sz="1200" spc="25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product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categories</a:t>
            </a:r>
            <a:r>
              <a:rPr sz="1200" spc="25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present.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Others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occur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upon </a:t>
            </a:r>
            <a:r>
              <a:rPr sz="1200" dirty="0">
                <a:latin typeface="Times New Roman"/>
                <a:cs typeface="Times New Roman"/>
              </a:rPr>
              <a:t>conducting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transaction,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value_qt,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value_rs,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very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strongly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positively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skewed, </a:t>
            </a:r>
            <a:r>
              <a:rPr sz="1200" dirty="0">
                <a:latin typeface="Times New Roman"/>
                <a:cs typeface="Times New Roman"/>
              </a:rPr>
              <a:t>where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most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common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low,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however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there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 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few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very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do </a:t>
            </a:r>
            <a:r>
              <a:rPr sz="1200" dirty="0">
                <a:latin typeface="Times New Roman"/>
                <a:cs typeface="Times New Roman"/>
              </a:rPr>
              <a:t>more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mean.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value_dl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field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mostly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sparse,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together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median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0, </a:t>
            </a:r>
            <a:r>
              <a:rPr sz="1200" dirty="0">
                <a:latin typeface="Times New Roman"/>
                <a:cs typeface="Times New Roman"/>
              </a:rPr>
              <a:t>indicating</a:t>
            </a:r>
            <a:r>
              <a:rPr sz="1200" spc="18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infrequent</a:t>
            </a:r>
            <a:r>
              <a:rPr sz="1200" spc="17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114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non-</a:t>
            </a:r>
            <a:r>
              <a:rPr sz="1200" dirty="0">
                <a:latin typeface="Times New Roman"/>
                <a:cs typeface="Times New Roman"/>
              </a:rPr>
              <a:t>applicable.</a:t>
            </a:r>
            <a:r>
              <a:rPr sz="1200" spc="18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Generally,</a:t>
            </a:r>
            <a:r>
              <a:rPr sz="1200" spc="16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14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15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14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heteroscedastic</a:t>
            </a:r>
            <a:r>
              <a:rPr sz="1200" spc="215" dirty="0">
                <a:latin typeface="Times New Roman"/>
                <a:cs typeface="Times New Roman"/>
              </a:rPr>
              <a:t> 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spc="-20" dirty="0">
                <a:latin typeface="Times New Roman"/>
                <a:cs typeface="Times New Roman"/>
              </a:rPr>
              <a:t>asymmetrical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distribution,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need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further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segment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outlier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analysis.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4.2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Visualization</a:t>
            </a:r>
            <a:endParaRPr sz="1400">
              <a:latin typeface="Times New Roman"/>
              <a:cs typeface="Times New Roman"/>
            </a:endParaRPr>
          </a:p>
          <a:p>
            <a:pPr marL="12700" marR="10795" algn="just">
              <a:lnSpc>
                <a:spcPct val="99000"/>
              </a:lnSpc>
              <a:spcBef>
                <a:spcPts val="489"/>
              </a:spcBef>
            </a:pPr>
            <a:r>
              <a:rPr sz="1200" spc="-5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Visualization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graphical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rendering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data</a:t>
            </a:r>
            <a:r>
              <a:rPr sz="1200" spc="-10" dirty="0">
                <a:latin typeface="Times New Roman"/>
                <a:cs typeface="Times New Roman"/>
              </a:rPr>
              <a:t> and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statistical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results,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aims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simplify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complex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data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sets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well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highlighting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of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patterns,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trends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well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relationships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data.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It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helps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in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detecting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of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Outliers,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distributions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and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also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of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correlation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between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variables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using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plot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histogram,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plot(bar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chart)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,plot(scatter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plot),boxplot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heatmap.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Visualizations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are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valuable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in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exploratory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analysis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 </a:t>
            </a:r>
            <a:r>
              <a:rPr sz="1200" spc="-15" dirty="0">
                <a:latin typeface="Times New Roman"/>
                <a:cs typeface="Times New Roman"/>
              </a:rPr>
              <a:t>giving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 </a:t>
            </a:r>
            <a:r>
              <a:rPr sz="1200" dirty="0">
                <a:latin typeface="Times New Roman"/>
                <a:cs typeface="Times New Roman"/>
              </a:rPr>
              <a:t>way </a:t>
            </a:r>
            <a:r>
              <a:rPr sz="1200" spc="-5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insisting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that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spc="-8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manner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that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isn't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apparent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numerical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summaries.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They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also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present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results,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facilitating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use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data-</a:t>
            </a:r>
            <a:r>
              <a:rPr sz="1200" spc="-5" dirty="0">
                <a:latin typeface="Times New Roman"/>
                <a:cs typeface="Times New Roman"/>
              </a:rPr>
              <a:t>driven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stories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technical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but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also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 </a:t>
            </a:r>
            <a:r>
              <a:rPr sz="1200" dirty="0">
                <a:latin typeface="Times New Roman"/>
                <a:cs typeface="Times New Roman"/>
              </a:rPr>
              <a:t>non-</a:t>
            </a:r>
            <a:r>
              <a:rPr sz="1200" spc="-20" dirty="0">
                <a:latin typeface="Times New Roman"/>
                <a:cs typeface="Times New Roman"/>
              </a:rPr>
              <a:t>technical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audience.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914400"/>
            <a:ext cx="5724525" cy="215265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655050" y="9388475"/>
            <a:ext cx="215900" cy="20002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969" y="5059298"/>
            <a:ext cx="5763260" cy="367855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Times New Roman"/>
                <a:cs typeface="Times New Roman"/>
              </a:rPr>
              <a:t>Fig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4.2.1:</a:t>
            </a:r>
            <a:r>
              <a:rPr sz="1100" spc="4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Export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Value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Over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Years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9525" algn="just">
              <a:lnSpc>
                <a:spcPct val="999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line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graph titled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"Export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Value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Over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Years"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shows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fluctuations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 total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export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(in </a:t>
            </a:r>
            <a:r>
              <a:rPr sz="1200" dirty="0">
                <a:latin typeface="Times New Roman"/>
                <a:cs typeface="Times New Roman"/>
              </a:rPr>
              <a:t>DL)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January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2022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March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2024.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reveals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peak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March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2022,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followed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a </a:t>
            </a:r>
            <a:r>
              <a:rPr sz="1200" dirty="0">
                <a:latin typeface="Times New Roman"/>
                <a:cs typeface="Times New Roman"/>
              </a:rPr>
              <a:t>notable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decline</a:t>
            </a:r>
            <a:r>
              <a:rPr sz="1200" spc="4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reaching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lowest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point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January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2023.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Subsequent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periods</a:t>
            </a:r>
            <a:r>
              <a:rPr sz="1200" spc="4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exhibit </a:t>
            </a:r>
            <a:r>
              <a:rPr sz="1200" dirty="0">
                <a:latin typeface="Times New Roman"/>
                <a:cs typeface="Times New Roman"/>
              </a:rPr>
              <a:t>alternating</a:t>
            </a:r>
            <a:r>
              <a:rPr sz="1200" spc="12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increases</a:t>
            </a:r>
            <a:r>
              <a:rPr sz="1200" spc="114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4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decreases,</a:t>
            </a:r>
            <a:r>
              <a:rPr sz="1200" spc="4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suggesting</a:t>
            </a:r>
            <a:r>
              <a:rPr sz="1200" spc="48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cyclical</a:t>
            </a:r>
            <a:r>
              <a:rPr sz="1200" spc="11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3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seasonal</a:t>
            </a:r>
            <a:r>
              <a:rPr sz="1200" spc="4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trends</a:t>
            </a:r>
            <a:r>
              <a:rPr sz="1200" spc="4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4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export performance.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value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partially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recovers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early </a:t>
            </a:r>
            <a:r>
              <a:rPr sz="1200" spc="-10" dirty="0">
                <a:latin typeface="Times New Roman"/>
                <a:cs typeface="Times New Roman"/>
              </a:rPr>
              <a:t>2023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early </a:t>
            </a:r>
            <a:r>
              <a:rPr sz="1200" spc="-10" dirty="0">
                <a:latin typeface="Times New Roman"/>
                <a:cs typeface="Times New Roman"/>
              </a:rPr>
              <a:t>2024,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remains below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March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2022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peak.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Overall,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4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export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trend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indicates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short-</a:t>
            </a:r>
            <a:r>
              <a:rPr sz="1200" dirty="0">
                <a:latin typeface="Times New Roman"/>
                <a:cs typeface="Times New Roman"/>
              </a:rPr>
              <a:t>term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volatility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no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consistent </a:t>
            </a:r>
            <a:r>
              <a:rPr sz="1200" dirty="0">
                <a:latin typeface="Times New Roman"/>
                <a:cs typeface="Times New Roman"/>
              </a:rPr>
              <a:t>upward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downward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trajectory.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Times New Roman"/>
                <a:cs typeface="Times New Roman"/>
              </a:rPr>
              <a:t>4.3</a:t>
            </a:r>
            <a:r>
              <a:rPr sz="1400" spc="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Correlation</a:t>
            </a:r>
            <a:r>
              <a:rPr sz="1400" spc="-10" dirty="0">
                <a:latin typeface="Times New Roman"/>
                <a:cs typeface="Times New Roman"/>
              </a:rPr>
              <a:t> Analysis</a:t>
            </a:r>
            <a:endParaRPr sz="1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99"/>
              </a:lnSpc>
              <a:spcBef>
                <a:spcPts val="844"/>
              </a:spcBef>
            </a:pPr>
            <a:r>
              <a:rPr sz="1200" spc="-10" dirty="0">
                <a:latin typeface="Times New Roman"/>
                <a:cs typeface="Times New Roman"/>
              </a:rPr>
              <a:t>Correlation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analysis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measures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statistical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relationship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two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variables,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indicating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both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strength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direction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their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association.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quantifies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variables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move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relation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 </a:t>
            </a: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other,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correlation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coefficients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ranging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35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1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(perfect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negative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correlation)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+1 </a:t>
            </a:r>
            <a:r>
              <a:rPr sz="1200" dirty="0">
                <a:latin typeface="Times New Roman"/>
                <a:cs typeface="Times New Roman"/>
              </a:rPr>
              <a:t>(perfect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positive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correlation),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0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represents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correlation.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strong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correlation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suggests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variables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tend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change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together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predictable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way,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though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importantly,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correlation </a:t>
            </a:r>
            <a:r>
              <a:rPr sz="1200" dirty="0">
                <a:latin typeface="Times New Roman"/>
                <a:cs typeface="Times New Roman"/>
              </a:rPr>
              <a:t>alone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does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imply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causation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variables.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1550" y="981075"/>
            <a:ext cx="5419725" cy="39909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807450" y="9464675"/>
            <a:ext cx="215900" cy="20002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969" y="5842761"/>
            <a:ext cx="5763895" cy="3886835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R="635" algn="ctr">
              <a:lnSpc>
                <a:spcPct val="100000"/>
              </a:lnSpc>
              <a:spcBef>
                <a:spcPts val="910"/>
              </a:spcBef>
            </a:pPr>
            <a:r>
              <a:rPr sz="1200" dirty="0">
                <a:latin typeface="Times New Roman"/>
                <a:cs typeface="Times New Roman"/>
              </a:rPr>
              <a:t>Fig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4.3.1: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Correlation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Matrix</a:t>
            </a:r>
            <a:endParaRPr sz="1200">
              <a:latin typeface="Times New Roman"/>
              <a:cs typeface="Times New Roman"/>
            </a:endParaRPr>
          </a:p>
          <a:p>
            <a:pPr marL="12700" marR="9525" algn="just">
              <a:lnSpc>
                <a:spcPct val="99700"/>
              </a:lnSpc>
              <a:spcBef>
                <a:spcPts val="81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correlation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matrix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reveals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several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relationships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among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variables.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Strong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positive correlations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evident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among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certain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categorical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identifiers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(r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&gt;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0.95),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indicating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overlapping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redundant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information.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perfect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negative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correlation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(r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–1.00)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two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regional </a:t>
            </a:r>
            <a:r>
              <a:rPr sz="1200" dirty="0">
                <a:latin typeface="Times New Roman"/>
                <a:cs typeface="Times New Roman"/>
              </a:rPr>
              <a:t>identifiers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suggests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one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may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inverse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representation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other.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Measures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quantity, </a:t>
            </a:r>
            <a:r>
              <a:rPr sz="1200" dirty="0">
                <a:latin typeface="Times New Roman"/>
                <a:cs typeface="Times New Roman"/>
              </a:rPr>
              <a:t>monetary value,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derived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demonstrate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moderate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positive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intercorrelations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(r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≈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0.42), </a:t>
            </a:r>
            <a:r>
              <a:rPr sz="1200" dirty="0">
                <a:latin typeface="Times New Roman"/>
                <a:cs typeface="Times New Roman"/>
              </a:rPr>
              <a:t>implying</a:t>
            </a:r>
            <a:r>
              <a:rPr sz="1200" spc="10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internal</a:t>
            </a:r>
            <a:r>
              <a:rPr sz="1200" spc="4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consistency</a:t>
            </a:r>
            <a:r>
              <a:rPr sz="1200" spc="10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among</a:t>
            </a:r>
            <a:r>
              <a:rPr sz="1200" spc="38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export-</a:t>
            </a:r>
            <a:r>
              <a:rPr sz="1200" dirty="0">
                <a:latin typeface="Times New Roman"/>
                <a:cs typeface="Times New Roman"/>
              </a:rPr>
              <a:t>related</a:t>
            </a:r>
            <a:r>
              <a:rPr sz="1200" spc="13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metrics.</a:t>
            </a:r>
            <a:r>
              <a:rPr sz="1200" spc="4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Additionally,</a:t>
            </a:r>
            <a:r>
              <a:rPr sz="1200" spc="4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moderate </a:t>
            </a:r>
            <a:r>
              <a:rPr sz="1200" dirty="0">
                <a:latin typeface="Times New Roman"/>
                <a:cs typeface="Times New Roman"/>
              </a:rPr>
              <a:t>association</a:t>
            </a:r>
            <a:r>
              <a:rPr sz="1200" spc="25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(r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0.44)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product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classification</a:t>
            </a:r>
            <a:r>
              <a:rPr sz="1200" spc="3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unit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measurement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suggests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a </a:t>
            </a:r>
            <a:r>
              <a:rPr sz="1200" dirty="0">
                <a:latin typeface="Times New Roman"/>
                <a:cs typeface="Times New Roman"/>
              </a:rPr>
              <a:t>structured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relationship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goods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their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reporting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standards.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Most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remaining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variables exhibit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minimal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correlation,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indicating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weak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linear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relationships.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5.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Statistical</a:t>
            </a:r>
            <a:r>
              <a:rPr sz="1800" spc="-10" dirty="0">
                <a:latin typeface="Times New Roman"/>
                <a:cs typeface="Times New Roman"/>
              </a:rPr>
              <a:t> Analysis</a:t>
            </a:r>
            <a:endParaRPr sz="1800">
              <a:latin typeface="Times New Roman"/>
              <a:cs typeface="Times New Roman"/>
            </a:endParaRPr>
          </a:p>
          <a:p>
            <a:pPr marL="12700" marR="5080" algn="just">
              <a:lnSpc>
                <a:spcPct val="99900"/>
              </a:lnSpc>
              <a:spcBef>
                <a:spcPts val="470"/>
              </a:spcBef>
            </a:pPr>
            <a:r>
              <a:rPr sz="1200" spc="-10" dirty="0">
                <a:latin typeface="Times New Roman"/>
                <a:cs typeface="Times New Roman"/>
              </a:rPr>
              <a:t>Statistical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involves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statical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techniques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adequately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describe,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summarise </a:t>
            </a:r>
            <a:r>
              <a:rPr sz="1200" spc="-40" dirty="0">
                <a:latin typeface="Times New Roman"/>
                <a:cs typeface="Times New Roman"/>
              </a:rPr>
              <a:t>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draw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conclusions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data.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It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carries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detections,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explanations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and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relationships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amongst </a:t>
            </a:r>
            <a:r>
              <a:rPr sz="1200" dirty="0">
                <a:latin typeface="Times New Roman"/>
                <a:cs typeface="Times New Roman"/>
              </a:rPr>
              <a:t>several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variables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applying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approaches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including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hypothesis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testing,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correlation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study,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reign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ANOVA.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Statistical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gives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basis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during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facts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evaluated,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useful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55" dirty="0">
                <a:latin typeface="Times New Roman"/>
                <a:cs typeface="Times New Roman"/>
              </a:rPr>
              <a:t>facts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- </a:t>
            </a:r>
            <a:r>
              <a:rPr sz="1200" dirty="0">
                <a:latin typeface="Times New Roman"/>
                <a:cs typeface="Times New Roman"/>
              </a:rPr>
              <a:t>driven</a:t>
            </a:r>
            <a:r>
              <a:rPr sz="1200" spc="3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states,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including</a:t>
            </a:r>
            <a:r>
              <a:rPr sz="1200" spc="3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trends'</a:t>
            </a:r>
            <a:r>
              <a:rPr sz="1200" spc="3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significance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dependability.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converts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uncooked </a:t>
            </a:r>
            <a:r>
              <a:rPr sz="1200" dirty="0">
                <a:latin typeface="Times New Roman"/>
                <a:cs typeface="Times New Roman"/>
              </a:rPr>
              <a:t>information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actionable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information,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researchers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confirm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assumptions,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test </a:t>
            </a:r>
            <a:r>
              <a:rPr sz="1200" spc="-10" dirty="0">
                <a:latin typeface="Times New Roman"/>
                <a:cs typeface="Times New Roman"/>
              </a:rPr>
              <a:t>screening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verify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refute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scientific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claims.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7029" y="955871"/>
            <a:ext cx="5613906" cy="496269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9798050" y="9629583"/>
            <a:ext cx="215900" cy="20002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969" y="812871"/>
            <a:ext cx="5764530" cy="210947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295910" lvl="1" indent="-283210" algn="just">
              <a:lnSpc>
                <a:spcPct val="100000"/>
              </a:lnSpc>
              <a:spcBef>
                <a:spcPts val="680"/>
              </a:spcBef>
              <a:buAutoNum type="arabicPeriod"/>
              <a:tabLst>
                <a:tab pos="295910" algn="l"/>
              </a:tabLst>
            </a:pPr>
            <a:r>
              <a:rPr sz="1400" dirty="0">
                <a:latin typeface="Times New Roman"/>
                <a:cs typeface="Times New Roman"/>
              </a:rPr>
              <a:t>Hypothesis </a:t>
            </a:r>
            <a:r>
              <a:rPr sz="1400" spc="-10" dirty="0">
                <a:latin typeface="Times New Roman"/>
                <a:cs typeface="Times New Roman"/>
              </a:rPr>
              <a:t>Testing</a:t>
            </a:r>
            <a:endParaRPr sz="1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99000"/>
              </a:lnSpc>
              <a:spcBef>
                <a:spcPts val="484"/>
              </a:spcBef>
            </a:pPr>
            <a:r>
              <a:rPr sz="1200" spc="-15" dirty="0">
                <a:latin typeface="Times New Roman"/>
                <a:cs typeface="Times New Roman"/>
              </a:rPr>
              <a:t>Hypothesis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testing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 </a:t>
            </a:r>
            <a:r>
              <a:rPr sz="1200" spc="-30" dirty="0">
                <a:latin typeface="Times New Roman"/>
                <a:cs typeface="Times New Roman"/>
              </a:rPr>
              <a:t>statistical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technique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test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claims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made</a:t>
            </a:r>
            <a:r>
              <a:rPr sz="1200" spc="-10" dirty="0">
                <a:latin typeface="Times New Roman"/>
                <a:cs typeface="Times New Roman"/>
              </a:rPr>
              <a:t> about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populations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using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sample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data.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consists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of</a:t>
            </a:r>
            <a:r>
              <a:rPr sz="1200" spc="-10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formulating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spc="-8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null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hypothesis,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under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which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there.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Researchers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set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 </a:t>
            </a:r>
            <a:r>
              <a:rPr sz="1200" spc="-10" dirty="0">
                <a:latin typeface="Times New Roman"/>
                <a:cs typeface="Times New Roman"/>
              </a:rPr>
              <a:t>a </a:t>
            </a:r>
            <a:r>
              <a:rPr sz="1200" spc="-20" dirty="0">
                <a:latin typeface="Times New Roman"/>
                <a:cs typeface="Times New Roman"/>
              </a:rPr>
              <a:t>level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for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significance,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gather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data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test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statistic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well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p-</a:t>
            </a:r>
            <a:r>
              <a:rPr sz="1200" spc="-15" dirty="0">
                <a:latin typeface="Times New Roman"/>
                <a:cs typeface="Times New Roman"/>
              </a:rPr>
              <a:t>value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see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if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p-</a:t>
            </a:r>
            <a:r>
              <a:rPr sz="1200" spc="-15" dirty="0">
                <a:latin typeface="Times New Roman"/>
                <a:cs typeface="Times New Roman"/>
              </a:rPr>
              <a:t>value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ho</a:t>
            </a:r>
            <a:r>
              <a:rPr sz="1200" spc="30" dirty="0">
                <a:latin typeface="Times New Roman"/>
                <a:cs typeface="Times New Roman"/>
              </a:rPr>
              <a:t>w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adequate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reason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reject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null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hypothesis.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The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P-</a:t>
            </a:r>
            <a:r>
              <a:rPr sz="1200" spc="-15" dirty="0">
                <a:latin typeface="Times New Roman"/>
                <a:cs typeface="Times New Roman"/>
              </a:rPr>
              <a:t>value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probability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of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seeing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those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data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at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least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chance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null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hypothesis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held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true.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When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this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probability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below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preset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significance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level,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researchers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deny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Null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hypothesis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in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favor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of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alternative.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This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structure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enables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structure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way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of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decision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make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evidence-based,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approaching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accounting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for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sampling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variation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and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 </a:t>
            </a:r>
            <a:r>
              <a:rPr sz="1200" spc="-15" dirty="0">
                <a:latin typeface="Times New Roman"/>
                <a:cs typeface="Times New Roman"/>
              </a:rPr>
              <a:t>chance.</a:t>
            </a:r>
            <a:endParaRPr sz="1200">
              <a:latin typeface="Times New Roman"/>
              <a:cs typeface="Times New Roman"/>
            </a:endParaRPr>
          </a:p>
          <a:p>
            <a:pPr marL="355600" lvl="2" indent="-342900" algn="just">
              <a:lnSpc>
                <a:spcPct val="100000"/>
              </a:lnSpc>
              <a:spcBef>
                <a:spcPts val="815"/>
              </a:spcBef>
              <a:buAutoNum type="arabicPeriod"/>
              <a:tabLst>
                <a:tab pos="355600" algn="l"/>
              </a:tabLst>
            </a:pPr>
            <a:r>
              <a:rPr sz="1200" spc="-95" dirty="0">
                <a:latin typeface="Times New Roman"/>
                <a:cs typeface="Times New Roman"/>
              </a:rPr>
              <a:t>T-</a:t>
            </a:r>
            <a:r>
              <a:rPr sz="1200" spc="-20" dirty="0">
                <a:latin typeface="Times New Roman"/>
                <a:cs typeface="Times New Roman"/>
              </a:rPr>
              <a:t>Test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969" y="4496689"/>
            <a:ext cx="5765165" cy="4326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999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Executes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statistical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spc="-35" dirty="0">
                <a:latin typeface="Times New Roman"/>
                <a:cs typeface="Times New Roman"/>
              </a:rPr>
              <a:t>t-</a:t>
            </a:r>
            <a:r>
              <a:rPr sz="1200" dirty="0">
                <a:latin typeface="Times New Roman"/>
                <a:cs typeface="Times New Roman"/>
              </a:rPr>
              <a:t>test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there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diffrence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values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two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country. </a:t>
            </a:r>
            <a:r>
              <a:rPr sz="1200" dirty="0">
                <a:latin typeface="Times New Roman"/>
                <a:cs typeface="Times New Roman"/>
              </a:rPr>
              <a:t>Then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it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finds 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unique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country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names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DataFrame.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there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more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countries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then,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gets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'value_d1'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first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two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countries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(Dominican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Republic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&amp;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Mexico).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20" dirty="0">
                <a:latin typeface="Times New Roman"/>
                <a:cs typeface="Times New Roman"/>
              </a:rPr>
              <a:t>code </a:t>
            </a:r>
            <a:r>
              <a:rPr sz="1200" dirty="0">
                <a:latin typeface="Times New Roman"/>
                <a:cs typeface="Times New Roman"/>
              </a:rPr>
              <a:t>then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executes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 </a:t>
            </a:r>
            <a:r>
              <a:rPr sz="1200" spc="-20" dirty="0">
                <a:latin typeface="Times New Roman"/>
                <a:cs typeface="Times New Roman"/>
              </a:rPr>
              <a:t>one-</a:t>
            </a:r>
            <a:r>
              <a:rPr sz="1200" dirty="0">
                <a:latin typeface="Times New Roman"/>
                <a:cs typeface="Times New Roman"/>
              </a:rPr>
              <a:t>sample$t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unequal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variance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assumption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outputs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results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formatted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output.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result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displays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considerable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variation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nations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(t </a:t>
            </a:r>
            <a:r>
              <a:rPr sz="1200" dirty="0">
                <a:latin typeface="Times New Roman"/>
                <a:cs typeface="Times New Roman"/>
              </a:rPr>
              <a:t>exportedstatistic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35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7.53,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p-</a:t>
            </a:r>
            <a:r>
              <a:rPr sz="1200" dirty="0">
                <a:latin typeface="Times New Roman"/>
                <a:cs typeface="Times New Roman"/>
              </a:rPr>
              <a:t>value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&lt;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0.0001)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indication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strong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statistical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proof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their </a:t>
            </a:r>
            <a:r>
              <a:rPr sz="1200" dirty="0">
                <a:latin typeface="Times New Roman"/>
                <a:cs typeface="Times New Roman"/>
              </a:rPr>
              <a:t>values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differ.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5.2</a:t>
            </a:r>
            <a:r>
              <a:rPr sz="1400" spc="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Regression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Analysis</a:t>
            </a:r>
            <a:endParaRPr sz="1400">
              <a:latin typeface="Times New Roman"/>
              <a:cs typeface="Times New Roman"/>
            </a:endParaRPr>
          </a:p>
          <a:p>
            <a:pPr marL="12700" marR="7620" algn="just">
              <a:lnSpc>
                <a:spcPct val="99900"/>
              </a:lnSpc>
              <a:spcBef>
                <a:spcPts val="475"/>
              </a:spcBef>
            </a:pPr>
            <a:r>
              <a:rPr sz="1200" spc="-15" dirty="0">
                <a:latin typeface="Times New Roman"/>
                <a:cs typeface="Times New Roman"/>
              </a:rPr>
              <a:t>Regression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analysis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one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of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statistical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methodologies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used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for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analysis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of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functional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relationship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between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response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variable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and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one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or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more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predictor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variables.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This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analytical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structure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makes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possible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estimation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of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ho</a:t>
            </a:r>
            <a:r>
              <a:rPr sz="1200" dirty="0">
                <a:latin typeface="Times New Roman"/>
                <a:cs typeface="Times New Roman"/>
              </a:rPr>
              <a:t>w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predictors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impact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expected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value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of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response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variable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altering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only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predictor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and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keeping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other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predictors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unchanged.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The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spirit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of </a:t>
            </a:r>
            <a:r>
              <a:rPr sz="1200" spc="-20" dirty="0">
                <a:latin typeface="Times New Roman"/>
                <a:cs typeface="Times New Roman"/>
              </a:rPr>
              <a:t>regression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technique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built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around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its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ability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find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best-</a:t>
            </a:r>
            <a:r>
              <a:rPr sz="1200" spc="-30" dirty="0">
                <a:latin typeface="Times New Roman"/>
                <a:cs typeface="Times New Roman"/>
              </a:rPr>
              <a:t>fit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mathematical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equation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that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reflects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data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distribution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and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used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for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predictive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inference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and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explanatory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theory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of </a:t>
            </a:r>
            <a:r>
              <a:rPr sz="1200" spc="-15" dirty="0">
                <a:latin typeface="Times New Roman"/>
                <a:cs typeface="Times New Roman"/>
              </a:rPr>
              <a:t>observed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phenomenon.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Linear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regression,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standard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model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of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this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analytical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point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of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view,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asserts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 </a:t>
            </a:r>
            <a:r>
              <a:rPr sz="1200" spc="-25" dirty="0">
                <a:latin typeface="Times New Roman"/>
                <a:cs typeface="Times New Roman"/>
              </a:rPr>
              <a:t>linear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functional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dependency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between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variables.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Multiple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regression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analysis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extends </a:t>
            </a:r>
            <a:r>
              <a:rPr sz="1200" spc="-25" dirty="0">
                <a:latin typeface="Times New Roman"/>
                <a:cs typeface="Times New Roman"/>
              </a:rPr>
              <a:t>this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paradigm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case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spc="-8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set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predictor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variables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that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are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simultaneously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operative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within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model.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The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resulting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statistical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output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provides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parameter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estimates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with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marginal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effects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predictor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variables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along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with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measures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of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statistical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inference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goodness-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of-</a:t>
            </a:r>
            <a:r>
              <a:rPr sz="1200" spc="-30" dirty="0">
                <a:latin typeface="Times New Roman"/>
                <a:cs typeface="Times New Roman"/>
              </a:rPr>
              <a:t>fit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metrics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such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coefficient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of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determination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(r^2)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which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defines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proportion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of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variability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in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dependent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variable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that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explained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model.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3020060"/>
            <a:ext cx="5724525" cy="138112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731250" y="9312275"/>
            <a:ext cx="215900" cy="20002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969" y="883348"/>
            <a:ext cx="280733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Times New Roman"/>
                <a:cs typeface="Times New Roman"/>
              </a:rPr>
              <a:t>5.3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Statistical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tests: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One-</a:t>
            </a:r>
            <a:r>
              <a:rPr sz="1400" spc="-50" dirty="0">
                <a:latin typeface="Times New Roman"/>
                <a:cs typeface="Times New Roman"/>
              </a:rPr>
              <a:t>Way</a:t>
            </a:r>
            <a:r>
              <a:rPr sz="1400" spc="-20" dirty="0">
                <a:latin typeface="Times New Roman"/>
                <a:cs typeface="Times New Roman"/>
              </a:rPr>
              <a:t> ANOVA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969" y="2485008"/>
            <a:ext cx="5762625" cy="12941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marR="5080" algn="just">
              <a:lnSpc>
                <a:spcPct val="109000"/>
              </a:lnSpc>
              <a:spcBef>
                <a:spcPts val="5"/>
              </a:spcBef>
            </a:pPr>
            <a:r>
              <a:rPr sz="1100" dirty="0">
                <a:latin typeface="Calibri"/>
                <a:cs typeface="Calibri"/>
              </a:rPr>
              <a:t>This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code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conducts</a:t>
            </a:r>
            <a:r>
              <a:rPr sz="1100" spc="-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 one-way</a:t>
            </a:r>
            <a:r>
              <a:rPr sz="1100" spc="-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ANOVA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</a:t>
            </a:r>
            <a:r>
              <a:rPr sz="1100" spc="-6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different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commodity</a:t>
            </a:r>
            <a:r>
              <a:rPr sz="1100" spc="-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groups</a:t>
            </a:r>
            <a:r>
              <a:rPr sz="1100" spc="-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from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 collection.</a:t>
            </a:r>
            <a:r>
              <a:rPr sz="1100" spc="1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It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produces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a</a:t>
            </a:r>
            <a:r>
              <a:rPr sz="1100" dirty="0">
                <a:latin typeface="Calibri"/>
                <a:cs typeface="Calibri"/>
              </a:rPr>
              <a:t> list</a:t>
            </a:r>
            <a:r>
              <a:rPr sz="1100" spc="240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185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'value_d1'</a:t>
            </a:r>
            <a:r>
              <a:rPr sz="1100" spc="195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values</a:t>
            </a:r>
            <a:r>
              <a:rPr sz="1100" spc="215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200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each</a:t>
            </a:r>
            <a:r>
              <a:rPr sz="1100" spc="250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commodity</a:t>
            </a:r>
            <a:r>
              <a:rPr sz="1100" spc="175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group</a:t>
            </a:r>
            <a:r>
              <a:rPr sz="1100" spc="170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by</a:t>
            </a:r>
            <a:r>
              <a:rPr sz="1100" spc="215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looping</a:t>
            </a:r>
            <a:r>
              <a:rPr sz="1100" spc="204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groups</a:t>
            </a:r>
            <a:r>
              <a:rPr sz="1100" spc="175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185" dirty="0">
                <a:latin typeface="Calibri"/>
                <a:cs typeface="Calibri"/>
              </a:rPr>
              <a:t>  </a:t>
            </a:r>
            <a:r>
              <a:rPr sz="1100" spc="-10" dirty="0">
                <a:latin typeface="Calibri"/>
                <a:cs typeface="Calibri"/>
              </a:rPr>
              <a:t>Dataframe. scipy.stats.f_oneway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is</a:t>
            </a:r>
            <a:r>
              <a:rPr sz="1100" spc="-10" dirty="0">
                <a:latin typeface="Calibri"/>
                <a:cs typeface="Calibri"/>
              </a:rPr>
              <a:t> then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used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get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F.Statistic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p-value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these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groups.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40" dirty="0">
                <a:latin typeface="Calibri"/>
                <a:cs typeface="Calibri"/>
              </a:rPr>
              <a:t>The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results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Analysis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1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variance</a:t>
            </a:r>
            <a:r>
              <a:rPr sz="1100" spc="1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(F=50.07,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p=0.0000)</a:t>
            </a:r>
            <a:r>
              <a:rPr sz="1100" spc="10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shows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that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difference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2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highly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significant</a:t>
            </a:r>
            <a:r>
              <a:rPr sz="1100" spc="2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among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commodity </a:t>
            </a:r>
            <a:r>
              <a:rPr sz="1100" dirty="0">
                <a:latin typeface="Calibri"/>
                <a:cs typeface="Calibri"/>
              </a:rPr>
              <a:t>values.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Given</a:t>
            </a:r>
            <a:r>
              <a:rPr sz="1100" spc="2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that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we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have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such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1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low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p-value,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we</a:t>
            </a:r>
            <a:r>
              <a:rPr sz="1100" spc="10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can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claim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reject</a:t>
            </a:r>
            <a:r>
              <a:rPr sz="1100" spc="1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null</a:t>
            </a:r>
            <a:r>
              <a:rPr sz="1100" spc="10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hypothesis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that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all </a:t>
            </a:r>
            <a:r>
              <a:rPr sz="1100" dirty="0">
                <a:latin typeface="Calibri"/>
                <a:cs typeface="Calibri"/>
              </a:rPr>
              <a:t>commodity</a:t>
            </a:r>
            <a:r>
              <a:rPr sz="1100" spc="-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groups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have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equal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mean values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indicating </a:t>
            </a:r>
            <a:r>
              <a:rPr sz="1100" dirty="0">
                <a:latin typeface="Calibri"/>
                <a:cs typeface="Calibri"/>
              </a:rPr>
              <a:t>significant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differences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 values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across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different </a:t>
            </a:r>
            <a:r>
              <a:rPr sz="1100" dirty="0">
                <a:latin typeface="Calibri"/>
                <a:cs typeface="Calibri"/>
              </a:rPr>
              <a:t>commodity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categories.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969" y="4248721"/>
            <a:ext cx="5760720" cy="5213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0504" indent="-217804" algn="just">
              <a:lnSpc>
                <a:spcPct val="100000"/>
              </a:lnSpc>
              <a:spcBef>
                <a:spcPts val="100"/>
              </a:spcBef>
              <a:buAutoNum type="arabicPeriod" startAt="6"/>
              <a:tabLst>
                <a:tab pos="230504" algn="l"/>
              </a:tabLst>
            </a:pPr>
            <a:r>
              <a:rPr sz="1800" dirty="0">
                <a:latin typeface="Times New Roman"/>
                <a:cs typeface="Times New Roman"/>
              </a:rPr>
              <a:t>Advanced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Analytics</a:t>
            </a:r>
            <a:endParaRPr sz="1800">
              <a:latin typeface="Times New Roman"/>
              <a:cs typeface="Times New Roman"/>
            </a:endParaRPr>
          </a:p>
          <a:p>
            <a:pPr marL="295910" lvl="1" indent="-283210" algn="just">
              <a:lnSpc>
                <a:spcPct val="100000"/>
              </a:lnSpc>
              <a:spcBef>
                <a:spcPts val="1170"/>
              </a:spcBef>
              <a:buAutoNum type="arabicPeriod"/>
              <a:tabLst>
                <a:tab pos="295910" algn="l"/>
              </a:tabLst>
            </a:pPr>
            <a:r>
              <a:rPr sz="1400" dirty="0">
                <a:latin typeface="Times New Roman"/>
                <a:cs typeface="Times New Roman"/>
              </a:rPr>
              <a:t>Machine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Learning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Models</a:t>
            </a:r>
            <a:endParaRPr sz="1400">
              <a:latin typeface="Times New Roman"/>
              <a:cs typeface="Times New Roman"/>
            </a:endParaRPr>
          </a:p>
          <a:p>
            <a:pPr marL="469900" marR="5080" lvl="2" indent="-228600" algn="just">
              <a:lnSpc>
                <a:spcPts val="1430"/>
              </a:lnSpc>
              <a:spcBef>
                <a:spcPts val="525"/>
              </a:spcBef>
              <a:buAutoNum type="arabicPeriod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Linear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Regression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forecasting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export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values,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different </a:t>
            </a:r>
            <a:r>
              <a:rPr sz="1200" dirty="0">
                <a:latin typeface="Times New Roman"/>
                <a:cs typeface="Times New Roman"/>
              </a:rPr>
              <a:t>variables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affect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economic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outcomes,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assist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foreign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competition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strategies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policy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advisories.</a:t>
            </a:r>
            <a:endParaRPr sz="1200">
              <a:latin typeface="Times New Roman"/>
              <a:cs typeface="Times New Roman"/>
            </a:endParaRPr>
          </a:p>
          <a:p>
            <a:pPr marL="469900" marR="13970" lvl="2" indent="-228600" algn="just">
              <a:lnSpc>
                <a:spcPct val="104400"/>
              </a:lnSpc>
              <a:spcBef>
                <a:spcPts val="1295"/>
              </a:spcBef>
              <a:buAutoNum type="arabicPeriod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Random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Forest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Regression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superior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prediction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accuracy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most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impact </a:t>
            </a:r>
            <a:r>
              <a:rPr sz="1200" dirty="0">
                <a:latin typeface="Times New Roman"/>
                <a:cs typeface="Times New Roman"/>
              </a:rPr>
              <a:t>factors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export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values,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more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than </a:t>
            </a:r>
            <a:r>
              <a:rPr sz="1200" spc="-10" dirty="0">
                <a:latin typeface="Times New Roman"/>
                <a:cs typeface="Times New Roman"/>
              </a:rPr>
              <a:t>linear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model.</a:t>
            </a:r>
            <a:endParaRPr sz="12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90"/>
              </a:spcBef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469900" marR="12065" lvl="2" indent="-228600" algn="just">
              <a:lnSpc>
                <a:spcPts val="1430"/>
              </a:lnSpc>
              <a:buAutoNum type="arabicPeriod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K-Means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Clustering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enables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country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product</a:t>
            </a:r>
            <a:r>
              <a:rPr sz="1200" spc="3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group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segmented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alike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trade behaviors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identify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concealed</a:t>
            </a:r>
            <a:r>
              <a:rPr sz="1200" dirty="0">
                <a:latin typeface="Times New Roman"/>
                <a:cs typeface="Times New Roman"/>
              </a:rPr>
              <a:t> trends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possible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market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prospects.</a:t>
            </a:r>
            <a:endParaRPr sz="12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35"/>
              </a:spcBef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469900" marR="8890" lvl="2" indent="-228600" algn="just">
              <a:lnSpc>
                <a:spcPts val="1430"/>
              </a:lnSpc>
              <a:buAutoNum type="arabicPeriod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Logistic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Regression/Classification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Models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forecast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exports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classified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into </a:t>
            </a:r>
            <a:r>
              <a:rPr sz="1200" dirty="0">
                <a:latin typeface="Times New Roman"/>
                <a:cs typeface="Times New Roman"/>
              </a:rPr>
              <a:t>superior or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inferior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classes,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assist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enterprises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discriminate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risks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opportunities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international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business.</a:t>
            </a:r>
            <a:endParaRPr sz="1200">
              <a:latin typeface="Times New Roman"/>
              <a:cs typeface="Times New Roman"/>
            </a:endParaRPr>
          </a:p>
          <a:p>
            <a:pPr marL="12700" marR="14604">
              <a:lnSpc>
                <a:spcPct val="113900"/>
              </a:lnSpc>
              <a:spcBef>
                <a:spcPts val="600"/>
              </a:spcBef>
            </a:pPr>
            <a:r>
              <a:rPr sz="1100" dirty="0">
                <a:latin typeface="Calibri"/>
                <a:cs typeface="Calibri"/>
              </a:rPr>
              <a:t>Each</a:t>
            </a:r>
            <a:r>
              <a:rPr sz="1100" spc="2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model</a:t>
            </a:r>
            <a:r>
              <a:rPr sz="1100" spc="2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offers</a:t>
            </a:r>
            <a:r>
              <a:rPr sz="1100" spc="2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3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distinct</a:t>
            </a:r>
            <a:r>
              <a:rPr sz="1100" spc="2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method</a:t>
            </a:r>
            <a:r>
              <a:rPr sz="1100" spc="20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according</a:t>
            </a:r>
            <a:r>
              <a:rPr sz="1100" spc="2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2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whether</a:t>
            </a:r>
            <a:r>
              <a:rPr sz="1100" spc="2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2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goal</a:t>
            </a:r>
            <a:r>
              <a:rPr sz="1100" spc="2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30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research</a:t>
            </a:r>
            <a:r>
              <a:rPr sz="1100" spc="2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36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prediction, </a:t>
            </a:r>
            <a:r>
              <a:rPr sz="1100" dirty="0">
                <a:latin typeface="Calibri"/>
                <a:cs typeface="Calibri"/>
              </a:rPr>
              <a:t>segmentation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classification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export </a:t>
            </a:r>
            <a:r>
              <a:rPr sz="1100" spc="-20" dirty="0">
                <a:latin typeface="Calibri"/>
                <a:cs typeface="Calibri"/>
              </a:rPr>
              <a:t>data.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1100">
              <a:latin typeface="Calibri"/>
              <a:cs typeface="Calibri"/>
            </a:endParaRPr>
          </a:p>
          <a:p>
            <a:pPr marL="295910" lvl="1" indent="-283210" algn="just">
              <a:lnSpc>
                <a:spcPct val="100000"/>
              </a:lnSpc>
              <a:buAutoNum type="arabicPeriod" startAt="2"/>
              <a:tabLst>
                <a:tab pos="295910" algn="l"/>
              </a:tabLst>
            </a:pPr>
            <a:r>
              <a:rPr sz="1400" dirty="0">
                <a:latin typeface="Times New Roman"/>
                <a:cs typeface="Times New Roman"/>
              </a:rPr>
              <a:t>Predictive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Modeling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Utility</a:t>
            </a:r>
            <a:endParaRPr sz="1400">
              <a:latin typeface="Times New Roman"/>
              <a:cs typeface="Times New Roman"/>
            </a:endParaRPr>
          </a:p>
          <a:p>
            <a:pPr marL="12700" marR="12700">
              <a:lnSpc>
                <a:spcPct val="108100"/>
              </a:lnSpc>
              <a:spcBef>
                <a:spcPts val="390"/>
              </a:spcBef>
            </a:pPr>
            <a:r>
              <a:rPr sz="1100" dirty="0">
                <a:latin typeface="Calibri"/>
                <a:cs typeface="Calibri"/>
              </a:rPr>
              <a:t>Predictive</a:t>
            </a:r>
            <a:r>
              <a:rPr sz="1100" spc="2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modeling</a:t>
            </a:r>
            <a:r>
              <a:rPr sz="1100" spc="20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2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crucial</a:t>
            </a:r>
            <a:r>
              <a:rPr sz="1100" spc="3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1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anticipating</a:t>
            </a:r>
            <a:r>
              <a:rPr sz="1100" spc="2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what</a:t>
            </a:r>
            <a:r>
              <a:rPr sz="1100" spc="1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2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future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outcome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will</a:t>
            </a:r>
            <a:r>
              <a:rPr sz="1100" spc="3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based</a:t>
            </a:r>
            <a:r>
              <a:rPr sz="1100" spc="2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upon</a:t>
            </a:r>
            <a:r>
              <a:rPr sz="1100" spc="21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what </a:t>
            </a:r>
            <a:r>
              <a:rPr sz="1100" dirty="0">
                <a:latin typeface="Calibri"/>
                <a:cs typeface="Calibri"/>
              </a:rPr>
              <a:t>happened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historically.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provides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several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benefits:</a:t>
            </a:r>
            <a:endParaRPr sz="1100">
              <a:latin typeface="Calibri"/>
              <a:cs typeface="Calibri"/>
            </a:endParaRPr>
          </a:p>
          <a:p>
            <a:pPr marL="468630" lvl="2" indent="-227329">
              <a:lnSpc>
                <a:spcPct val="100000"/>
              </a:lnSpc>
              <a:spcBef>
                <a:spcPts val="905"/>
              </a:spcBef>
              <a:buSzPct val="91666"/>
              <a:buAutoNum type="arabicPeriod"/>
              <a:tabLst>
                <a:tab pos="468630" algn="l"/>
              </a:tabLst>
            </a:pPr>
            <a:r>
              <a:rPr sz="1200" dirty="0">
                <a:latin typeface="Times New Roman"/>
                <a:cs typeface="Times New Roman"/>
              </a:rPr>
              <a:t>Helps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better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decisions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data.</a:t>
            </a:r>
            <a:endParaRPr sz="1200">
              <a:latin typeface="Times New Roman"/>
              <a:cs typeface="Times New Roman"/>
            </a:endParaRPr>
          </a:p>
          <a:p>
            <a:pPr marL="468630" lvl="2" indent="-227329">
              <a:lnSpc>
                <a:spcPct val="100000"/>
              </a:lnSpc>
              <a:spcBef>
                <a:spcPts val="1335"/>
              </a:spcBef>
              <a:buSzPct val="91666"/>
              <a:buAutoNum type="arabicPeriod"/>
              <a:tabLst>
                <a:tab pos="468630" algn="l"/>
              </a:tabLst>
            </a:pPr>
            <a:r>
              <a:rPr sz="1200" dirty="0">
                <a:latin typeface="Times New Roman"/>
                <a:cs typeface="Times New Roman"/>
              </a:rPr>
              <a:t>Saves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money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avoiding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guesswork.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181087"/>
            <a:ext cx="5724525" cy="114910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9874250" y="8321675"/>
            <a:ext cx="215900" cy="20002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9493250" y="8702675"/>
            <a:ext cx="215900" cy="20002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19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02969" y="893191"/>
            <a:ext cx="5765165" cy="4193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8630" indent="-227329">
              <a:lnSpc>
                <a:spcPct val="100000"/>
              </a:lnSpc>
              <a:spcBef>
                <a:spcPts val="100"/>
              </a:spcBef>
              <a:buSzPct val="91666"/>
              <a:buAutoNum type="arabicPeriod" startAt="3"/>
              <a:tabLst>
                <a:tab pos="468630" algn="l"/>
              </a:tabLst>
            </a:pPr>
            <a:r>
              <a:rPr sz="1200" dirty="0">
                <a:latin typeface="Times New Roman"/>
                <a:cs typeface="Times New Roman"/>
              </a:rPr>
              <a:t>Boosts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sales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business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performance.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Times New Roman"/>
              <a:buAutoNum type="arabicPeriod" startAt="3"/>
            </a:pPr>
            <a:endParaRPr sz="1200">
              <a:latin typeface="Times New Roman"/>
              <a:cs typeface="Times New Roman"/>
            </a:endParaRPr>
          </a:p>
          <a:p>
            <a:pPr marL="468630" indent="-227329">
              <a:lnSpc>
                <a:spcPct val="100000"/>
              </a:lnSpc>
              <a:buSzPct val="91666"/>
              <a:buAutoNum type="arabicPeriod" startAt="3"/>
              <a:tabLst>
                <a:tab pos="468630" algn="l"/>
              </a:tabLst>
            </a:pPr>
            <a:r>
              <a:rPr sz="1200" spc="-10" dirty="0">
                <a:latin typeface="Times New Roman"/>
                <a:cs typeface="Times New Roman"/>
              </a:rPr>
              <a:t>Improves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customer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satisfaction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personalized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service.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Times New Roman"/>
              <a:buAutoNum type="arabicPeriod" startAt="3"/>
            </a:pPr>
            <a:endParaRPr sz="1200">
              <a:latin typeface="Times New Roman"/>
              <a:cs typeface="Times New Roman"/>
            </a:endParaRPr>
          </a:p>
          <a:p>
            <a:pPr marL="468630" indent="-227329">
              <a:lnSpc>
                <a:spcPct val="100000"/>
              </a:lnSpc>
              <a:spcBef>
                <a:spcPts val="5"/>
              </a:spcBef>
              <a:buSzPct val="91666"/>
              <a:buAutoNum type="arabicPeriod" startAt="3"/>
              <a:tabLst>
                <a:tab pos="468630" algn="l"/>
              </a:tabLst>
            </a:pPr>
            <a:r>
              <a:rPr sz="1200" dirty="0">
                <a:latin typeface="Times New Roman"/>
                <a:cs typeface="Times New Roman"/>
              </a:rPr>
              <a:t>Detects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risks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prevents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problems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early.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Times New Roman"/>
              <a:buAutoNum type="arabicPeriod" startAt="3"/>
            </a:pPr>
            <a:endParaRPr sz="1200">
              <a:latin typeface="Times New Roman"/>
              <a:cs typeface="Times New Roman"/>
            </a:endParaRPr>
          </a:p>
          <a:p>
            <a:pPr marL="468630" indent="-227329">
              <a:lnSpc>
                <a:spcPct val="100000"/>
              </a:lnSpc>
              <a:buSzPct val="91666"/>
              <a:buAutoNum type="arabicPeriod" startAt="3"/>
              <a:tabLst>
                <a:tab pos="468630" algn="l"/>
              </a:tabLst>
            </a:pPr>
            <a:r>
              <a:rPr sz="1200" dirty="0">
                <a:latin typeface="Times New Roman"/>
                <a:cs typeface="Times New Roman"/>
              </a:rPr>
              <a:t>Gives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companies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edge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over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competitors.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Times New Roman"/>
              <a:buAutoNum type="arabicPeriod" startAt="3"/>
            </a:pPr>
            <a:endParaRPr sz="1200">
              <a:latin typeface="Times New Roman"/>
              <a:cs typeface="Times New Roman"/>
            </a:endParaRPr>
          </a:p>
          <a:p>
            <a:pPr marL="468630" indent="-227329">
              <a:lnSpc>
                <a:spcPct val="100000"/>
              </a:lnSpc>
              <a:spcBef>
                <a:spcPts val="5"/>
              </a:spcBef>
              <a:buSzPct val="91666"/>
              <a:buAutoNum type="arabicPeriod" startAt="3"/>
              <a:tabLst>
                <a:tab pos="468630" algn="l"/>
              </a:tabLst>
            </a:pPr>
            <a:r>
              <a:rPr sz="1200" dirty="0">
                <a:latin typeface="Times New Roman"/>
                <a:cs typeface="Times New Roman"/>
              </a:rPr>
              <a:t>Helps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resources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more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efficiently.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0160" algn="just">
              <a:lnSpc>
                <a:spcPct val="990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primary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objective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10" dirty="0">
                <a:latin typeface="Times New Roman"/>
                <a:cs typeface="Times New Roman"/>
              </a:rPr>
              <a:t>predictive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modeling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study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forecast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export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 </a:t>
            </a:r>
            <a:r>
              <a:rPr sz="1200" spc="-25" dirty="0">
                <a:latin typeface="Times New Roman"/>
                <a:cs typeface="Times New Roman"/>
              </a:rPr>
              <a:t>in </a:t>
            </a:r>
            <a:r>
              <a:rPr sz="1200" dirty="0">
                <a:latin typeface="Times New Roman"/>
                <a:cs typeface="Times New Roman"/>
              </a:rPr>
              <a:t>dollars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(value_dl)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commodities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exported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American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countries.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involves </a:t>
            </a:r>
            <a:r>
              <a:rPr sz="1200" dirty="0">
                <a:latin typeface="Times New Roman"/>
                <a:cs typeface="Times New Roman"/>
              </a:rPr>
              <a:t>multiple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techniques,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including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regression,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classification,</a:t>
            </a:r>
            <a:r>
              <a:rPr sz="1200" spc="3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clustering, </a:t>
            </a:r>
            <a:r>
              <a:rPr sz="1200" dirty="0">
                <a:latin typeface="Times New Roman"/>
                <a:cs typeface="Times New Roman"/>
              </a:rPr>
              <a:t>applied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dataset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comprising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top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100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commodities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trade </a:t>
            </a:r>
            <a:r>
              <a:rPr sz="1200" spc="-10" dirty="0">
                <a:latin typeface="Times New Roman"/>
                <a:cs typeface="Times New Roman"/>
              </a:rPr>
              <a:t>volume.</a:t>
            </a:r>
            <a:endParaRPr sz="1200">
              <a:latin typeface="Times New Roman"/>
              <a:cs typeface="Times New Roman"/>
            </a:endParaRPr>
          </a:p>
          <a:p>
            <a:pPr marL="469900" marR="5080" indent="-228600" algn="just">
              <a:lnSpc>
                <a:spcPct val="101600"/>
              </a:lnSpc>
              <a:spcBef>
                <a:spcPts val="1165"/>
              </a:spcBef>
            </a:pPr>
            <a:r>
              <a:rPr sz="1100" dirty="0">
                <a:latin typeface="Times New Roman"/>
                <a:cs typeface="Times New Roman"/>
              </a:rPr>
              <a:t>1)</a:t>
            </a:r>
            <a:r>
              <a:rPr sz="1100" spc="46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Regression</a:t>
            </a:r>
            <a:r>
              <a:rPr sz="1200" b="1" spc="18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Analysis</a:t>
            </a:r>
            <a:r>
              <a:rPr sz="1200" b="1" spc="2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Two</a:t>
            </a:r>
            <a:r>
              <a:rPr sz="1200" b="1" spc="2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regression</a:t>
            </a:r>
            <a:r>
              <a:rPr sz="1200" b="1" spc="320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models—</a:t>
            </a:r>
            <a:r>
              <a:rPr sz="1200" b="1" dirty="0">
                <a:latin typeface="Times New Roman"/>
                <a:cs typeface="Times New Roman"/>
              </a:rPr>
              <a:t>Linear</a:t>
            </a:r>
            <a:r>
              <a:rPr sz="1200" b="1" spc="30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Regression</a:t>
            </a:r>
            <a:r>
              <a:rPr sz="1200" b="1" spc="2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25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Random Forest</a:t>
            </a:r>
            <a:r>
              <a:rPr sz="1200" b="1" spc="-6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Regressor</a:t>
            </a:r>
            <a:r>
              <a:rPr sz="1200" spc="-10" dirty="0">
                <a:latin typeface="Times New Roman"/>
                <a:cs typeface="Times New Roman"/>
              </a:rPr>
              <a:t>—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developed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predict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continuous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target </a:t>
            </a:r>
            <a:r>
              <a:rPr sz="1200" dirty="0">
                <a:latin typeface="Times New Roman"/>
                <a:cs typeface="Times New Roman"/>
              </a:rPr>
              <a:t>variable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value_dl, representing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monetary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export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value.</a:t>
            </a:r>
            <a:endParaRPr sz="1200">
              <a:latin typeface="Times New Roman"/>
              <a:cs typeface="Times New Roman"/>
            </a:endParaRPr>
          </a:p>
          <a:p>
            <a:pPr marL="469900" marR="8255">
              <a:lnSpc>
                <a:spcPts val="1430"/>
              </a:lnSpc>
              <a:spcBef>
                <a:spcPts val="40"/>
              </a:spcBef>
              <a:tabLst>
                <a:tab pos="1183640" algn="l"/>
                <a:tab pos="1574165" algn="l"/>
                <a:tab pos="1709420" algn="l"/>
                <a:tab pos="2386330" algn="l"/>
                <a:tab pos="3176905" algn="l"/>
                <a:tab pos="3881754" algn="l"/>
                <a:tab pos="4729480" algn="l"/>
                <a:tab pos="5529580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Features</a:t>
            </a:r>
            <a:r>
              <a:rPr sz="1200" b="1" dirty="0">
                <a:latin typeface="Times New Roman"/>
                <a:cs typeface="Times New Roman"/>
              </a:rPr>
              <a:t>	</a:t>
            </a:r>
            <a:r>
              <a:rPr sz="1200" b="1" spc="-20" dirty="0">
                <a:latin typeface="Times New Roman"/>
                <a:cs typeface="Times New Roman"/>
              </a:rPr>
              <a:t>Used:</a:t>
            </a:r>
            <a:r>
              <a:rPr sz="1200" b="1" dirty="0">
                <a:latin typeface="Times New Roman"/>
                <a:cs typeface="Times New Roman"/>
              </a:rPr>
              <a:t>		</a:t>
            </a:r>
            <a:r>
              <a:rPr sz="1200" spc="-10" dirty="0">
                <a:latin typeface="Times New Roman"/>
                <a:cs typeface="Times New Roman"/>
              </a:rPr>
              <a:t>value_qt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(quantity),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value_rs,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commodity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(encoded),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spc="-10" dirty="0">
                <a:latin typeface="Times New Roman"/>
                <a:cs typeface="Times New Roman"/>
              </a:rPr>
              <a:t>country_name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(encoded).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ts val="1370"/>
              </a:lnSpc>
            </a:pPr>
            <a:r>
              <a:rPr sz="1200" b="1" spc="-10" dirty="0">
                <a:latin typeface="Times New Roman"/>
                <a:cs typeface="Times New Roman"/>
              </a:rPr>
              <a:t>Objective:</a:t>
            </a:r>
            <a:r>
              <a:rPr sz="1200" b="1" spc="11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Estimate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expected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export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 for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given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combinations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commodity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ts val="1430"/>
              </a:lnSpc>
            </a:pP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country </a:t>
            </a:r>
            <a:r>
              <a:rPr sz="1200" spc="-10" dirty="0">
                <a:latin typeface="Times New Roman"/>
                <a:cs typeface="Times New Roman"/>
              </a:rPr>
              <a:t>features.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363599" y="5262498"/>
          <a:ext cx="5274942" cy="5905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646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5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51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marL="538480">
                        <a:lnSpc>
                          <a:spcPts val="14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Model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8955">
                        <a:lnSpc>
                          <a:spcPts val="14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R2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Score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8955">
                        <a:lnSpc>
                          <a:spcPts val="1400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MSE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309880">
                        <a:lnSpc>
                          <a:spcPts val="133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LinearRegression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8955">
                        <a:lnSpc>
                          <a:spcPts val="133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0.999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8955">
                        <a:lnSpc>
                          <a:spcPts val="133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0.006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81280">
                        <a:lnSpc>
                          <a:spcPts val="132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RandomForestRegressor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8955">
                        <a:lnSpc>
                          <a:spcPts val="132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0.998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8955">
                        <a:lnSpc>
                          <a:spcPts val="132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0.009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969" y="5393054"/>
            <a:ext cx="5763895" cy="42602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1270" algn="ctr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Times New Roman"/>
                <a:cs typeface="Times New Roman"/>
              </a:rPr>
              <a:t>Fig6.2.1: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Scatter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Plot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Actual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Export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Value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v/s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Predicted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Export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Value</a:t>
            </a:r>
            <a:endParaRPr sz="1100">
              <a:latin typeface="Times New Roman"/>
              <a:cs typeface="Times New Roman"/>
            </a:endParaRPr>
          </a:p>
          <a:p>
            <a:pPr marL="12700" marR="10795" algn="just">
              <a:lnSpc>
                <a:spcPct val="98000"/>
              </a:lnSpc>
              <a:spcBef>
                <a:spcPts val="930"/>
              </a:spcBef>
            </a:pPr>
            <a:r>
              <a:rPr sz="1200" spc="-5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scatter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plot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illustrates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relationship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between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actual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predicted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export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values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using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linear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regression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model.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The</a:t>
            </a:r>
            <a:r>
              <a:rPr sz="1200" spc="-8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points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closely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align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with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reference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line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(y</a:t>
            </a:r>
            <a:r>
              <a:rPr sz="1200" dirty="0">
                <a:latin typeface="Times New Roman"/>
                <a:cs typeface="Times New Roman"/>
              </a:rPr>
              <a:t> =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x),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indicating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spc="-8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strong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linear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correspondence</a:t>
            </a:r>
            <a:r>
              <a:rPr sz="1200" spc="-10" dirty="0">
                <a:latin typeface="Times New Roman"/>
                <a:cs typeface="Times New Roman"/>
              </a:rPr>
              <a:t> between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observed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and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estimated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values.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The</a:t>
            </a:r>
            <a:r>
              <a:rPr sz="1200" spc="-8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proximity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points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red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dashed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regression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line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suggests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high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predictive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accuracy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minimal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residual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35" dirty="0">
                <a:latin typeface="Times New Roman"/>
                <a:cs typeface="Times New Roman"/>
              </a:rPr>
              <a:t>error.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Overall,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model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demonstrates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robust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performance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estimating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export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values,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signifying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high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degree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goodness-</a:t>
            </a:r>
            <a:r>
              <a:rPr sz="1200" spc="-25" dirty="0">
                <a:latin typeface="Times New Roman"/>
                <a:cs typeface="Times New Roman"/>
              </a:rPr>
              <a:t>of-</a:t>
            </a:r>
            <a:r>
              <a:rPr sz="1200" spc="-30" dirty="0">
                <a:latin typeface="Times New Roman"/>
                <a:cs typeface="Times New Roman"/>
              </a:rPr>
              <a:t>fit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reliability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forecasting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purposes.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3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Times New Roman"/>
                <a:cs typeface="Times New Roman"/>
              </a:rPr>
              <a:t>6.3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Clustering</a:t>
            </a:r>
            <a:endParaRPr sz="1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99900"/>
              </a:lnSpc>
              <a:spcBef>
                <a:spcPts val="1220"/>
              </a:spcBef>
            </a:pPr>
            <a:r>
              <a:rPr sz="1200" spc="-80" dirty="0">
                <a:latin typeface="Times New Roman"/>
                <a:cs typeface="Times New Roman"/>
              </a:rPr>
              <a:t>To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identify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patterns </a:t>
            </a:r>
            <a:r>
              <a:rPr sz="1200" dirty="0">
                <a:latin typeface="Times New Roman"/>
                <a:cs typeface="Times New Roman"/>
              </a:rPr>
              <a:t>beneath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export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data,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segmentations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carried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 </a:t>
            </a:r>
            <a:r>
              <a:rPr sz="1200" spc="-10" dirty="0">
                <a:latin typeface="Times New Roman"/>
                <a:cs typeface="Times New Roman"/>
              </a:rPr>
              <a:t>KMeans </a:t>
            </a:r>
            <a:r>
              <a:rPr sz="1200" dirty="0">
                <a:latin typeface="Times New Roman"/>
                <a:cs typeface="Times New Roman"/>
              </a:rPr>
              <a:t>cluster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analysis,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unsupervised</a:t>
            </a:r>
            <a:r>
              <a:rPr sz="1200" dirty="0">
                <a:latin typeface="Times New Roman"/>
                <a:cs typeface="Times New Roman"/>
              </a:rPr>
              <a:t> machine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learning.</a:t>
            </a:r>
            <a:r>
              <a:rPr sz="1200" dirty="0">
                <a:latin typeface="Times New Roman"/>
                <a:cs typeface="Times New Roman"/>
              </a:rPr>
              <a:t> This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carried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</a:t>
            </a:r>
            <a:r>
              <a:rPr sz="1200" spc="-25" dirty="0">
                <a:latin typeface="Times New Roman"/>
                <a:cs typeface="Times New Roman"/>
              </a:rPr>
              <a:t> by </a:t>
            </a:r>
            <a:r>
              <a:rPr sz="1200" dirty="0">
                <a:latin typeface="Times New Roman"/>
                <a:cs typeface="Times New Roman"/>
              </a:rPr>
              <a:t>two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different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strategies.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first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approach,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clustering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numeric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(export dollars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value_dl) quantity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value_qt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another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value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value_rs.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features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were </a:t>
            </a:r>
            <a:r>
              <a:rPr sz="1200" dirty="0">
                <a:latin typeface="Times New Roman"/>
                <a:cs typeface="Times New Roman"/>
              </a:rPr>
              <a:t>scale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normalized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before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clustering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order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guarantee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features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same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scale.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clusters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obtained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sorted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different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groups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export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deals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comparable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numerical properties,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allowed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uncovering</a:t>
            </a:r>
            <a:r>
              <a:rPr sz="1200" spc="-10" dirty="0">
                <a:latin typeface="Times New Roman"/>
                <a:cs typeface="Times New Roman"/>
              </a:rPr>
              <a:t> differences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export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behavior.</a:t>
            </a:r>
            <a:endParaRPr sz="1200">
              <a:latin typeface="Times New Roman"/>
              <a:cs typeface="Times New Roman"/>
            </a:endParaRPr>
          </a:p>
          <a:p>
            <a:pPr marL="12700" marR="10795" algn="just">
              <a:lnSpc>
                <a:spcPct val="99100"/>
              </a:lnSpc>
              <a:spcBef>
                <a:spcPts val="1200"/>
              </a:spcBef>
            </a:pP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second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case,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categorical</a:t>
            </a:r>
            <a:r>
              <a:rPr sz="1200" spc="4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variables,</a:t>
            </a:r>
            <a:r>
              <a:rPr sz="1200" spc="4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namely</a:t>
            </a:r>
            <a:r>
              <a:rPr sz="1200" spc="4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commodity</a:t>
            </a:r>
            <a:r>
              <a:rPr sz="1200" spc="4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country_name</a:t>
            </a:r>
            <a:r>
              <a:rPr sz="1200" spc="4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were </a:t>
            </a:r>
            <a:r>
              <a:rPr sz="1200" dirty="0">
                <a:latin typeface="Times New Roman"/>
                <a:cs typeface="Times New Roman"/>
              </a:rPr>
              <a:t>numerically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encoded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utilized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clustering.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allowed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dataset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divided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type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commodities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exported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destination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countries.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outcomes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clusters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discovered </a:t>
            </a:r>
            <a:r>
              <a:rPr sz="1200" dirty="0">
                <a:latin typeface="Times New Roman"/>
                <a:cs typeface="Times New Roman"/>
              </a:rPr>
              <a:t>trade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patterns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relationships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among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specific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commodities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certain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market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locations.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In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7892" y="914400"/>
            <a:ext cx="5724525" cy="44958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578850" y="9007475"/>
            <a:ext cx="177800" cy="20002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100" spc="-25" dirty="0">
                <a:latin typeface="Calibri"/>
                <a:cs typeface="Calibri"/>
              </a:rPr>
              <a:t>20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969" y="893191"/>
            <a:ext cx="5748655" cy="57086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 algn="just">
              <a:lnSpc>
                <a:spcPts val="1430"/>
              </a:lnSpc>
              <a:spcBef>
                <a:spcPts val="155"/>
              </a:spcBef>
            </a:pPr>
            <a:r>
              <a:rPr sz="1200" spc="-35" dirty="0">
                <a:latin typeface="Times New Roman"/>
                <a:cs typeface="Times New Roman"/>
              </a:rPr>
              <a:t>summary,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clustering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analysis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provided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 </a:t>
            </a:r>
            <a:r>
              <a:rPr sz="1200" spc="-20" dirty="0">
                <a:latin typeface="Times New Roman"/>
                <a:cs typeface="Times New Roman"/>
              </a:rPr>
              <a:t>helpful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tool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for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grouping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together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data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which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are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homogeneous,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providing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spc="-8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greater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understanding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into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-8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international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trade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dynamics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obtain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better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data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decision-</a:t>
            </a:r>
            <a:r>
              <a:rPr sz="1200" spc="-15" dirty="0">
                <a:latin typeface="Times New Roman"/>
                <a:cs typeface="Times New Roman"/>
              </a:rPr>
              <a:t>making.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947672"/>
            <a:ext cx="5724525" cy="397192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655050" y="9236075"/>
            <a:ext cx="215900" cy="20002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969" y="4630165"/>
            <a:ext cx="5769610" cy="49180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10160" algn="ctr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Calibri"/>
                <a:cs typeface="Calibri"/>
              </a:rPr>
              <a:t>Fig6.3.1: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K-Means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Clustering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Based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Encoded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Commodity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Country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12065" algn="just">
              <a:lnSpc>
                <a:spcPct val="9980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scatter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plot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shows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outcomes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K-Means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cluster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encoded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commodity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country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indicating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separation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four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different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clusters.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cluster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refers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set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items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(data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point)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shares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similar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characteristics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terms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commodity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type,country </a:t>
            </a:r>
            <a:r>
              <a:rPr sz="1200" dirty="0">
                <a:latin typeface="Times New Roman"/>
                <a:cs typeface="Times New Roman"/>
              </a:rPr>
              <a:t>association.</a:t>
            </a:r>
            <a:r>
              <a:rPr sz="1200" spc="3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clusters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appear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well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split,</a:t>
            </a:r>
            <a:r>
              <a:rPr sz="1200" spc="3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5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commodity</a:t>
            </a:r>
            <a:r>
              <a:rPr sz="1200" spc="3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dimension,</a:t>
            </a:r>
            <a:r>
              <a:rPr sz="1200" spc="3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implying</a:t>
            </a:r>
            <a:r>
              <a:rPr sz="1200" spc="3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that </a:t>
            </a:r>
            <a:r>
              <a:rPr sz="1200" dirty="0">
                <a:latin typeface="Times New Roman"/>
                <a:cs typeface="Times New Roman"/>
              </a:rPr>
              <a:t>commodity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category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strongly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driving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clustering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firms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countries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sources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spc="-35" dirty="0">
                <a:latin typeface="Times New Roman"/>
                <a:cs typeface="Times New Roman"/>
              </a:rPr>
              <a:t>intra-</a:t>
            </a:r>
            <a:r>
              <a:rPr sz="1200" dirty="0">
                <a:latin typeface="Times New Roman"/>
                <a:cs typeface="Times New Roman"/>
              </a:rPr>
              <a:t>cluster</a:t>
            </a:r>
            <a:r>
              <a:rPr sz="1200" spc="3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heterogeneity.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suggests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where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export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patterns</a:t>
            </a:r>
            <a:r>
              <a:rPr sz="1200" spc="3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being </a:t>
            </a:r>
            <a:r>
              <a:rPr sz="1200" dirty="0">
                <a:latin typeface="Times New Roman"/>
                <a:cs typeface="Times New Roman"/>
              </a:rPr>
              <a:t>impacted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more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kind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goods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any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country-</a:t>
            </a:r>
            <a:r>
              <a:rPr sz="1200" dirty="0">
                <a:latin typeface="Times New Roman"/>
                <a:cs typeface="Times New Roman"/>
              </a:rPr>
              <a:t>specific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issues that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contained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in </a:t>
            </a:r>
            <a:r>
              <a:rPr sz="1200" dirty="0">
                <a:latin typeface="Times New Roman"/>
                <a:cs typeface="Times New Roman"/>
              </a:rPr>
              <a:t>the encoded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variables.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AutoNum type="arabicPeriod" startAt="7"/>
              <a:tabLst>
                <a:tab pos="240665" algn="l"/>
              </a:tabLst>
            </a:pPr>
            <a:r>
              <a:rPr sz="1800" dirty="0">
                <a:latin typeface="Times New Roman"/>
                <a:cs typeface="Times New Roman"/>
              </a:rPr>
              <a:t>Research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Work</a:t>
            </a:r>
            <a:endParaRPr sz="1800">
              <a:latin typeface="Times New Roman"/>
              <a:cs typeface="Times New Roman"/>
            </a:endParaRPr>
          </a:p>
          <a:p>
            <a:pPr marL="12700" marR="13335" lvl="1" indent="284480">
              <a:lnSpc>
                <a:spcPts val="1650"/>
              </a:lnSpc>
              <a:spcBef>
                <a:spcPts val="950"/>
              </a:spcBef>
              <a:buAutoNum type="arabicPeriod"/>
              <a:tabLst>
                <a:tab pos="297180" algn="l"/>
              </a:tabLst>
            </a:pPr>
            <a:r>
              <a:rPr sz="1400" dirty="0">
                <a:latin typeface="Times New Roman"/>
                <a:cs typeface="Times New Roman"/>
              </a:rPr>
              <a:t>Machine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Learning-Driven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Export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Forecasting: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Comparative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Analysis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for </a:t>
            </a:r>
            <a:r>
              <a:rPr sz="1400" dirty="0">
                <a:latin typeface="Times New Roman"/>
                <a:cs typeface="Times New Roman"/>
              </a:rPr>
              <a:t>MSME</a:t>
            </a:r>
            <a:r>
              <a:rPr sz="1400" spc="1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Growth</a:t>
            </a:r>
            <a:endParaRPr sz="1400">
              <a:latin typeface="Times New Roman"/>
              <a:cs typeface="Times New Roman"/>
            </a:endParaRPr>
          </a:p>
          <a:p>
            <a:pPr marL="469900" marR="17780" lvl="2" indent="-228600">
              <a:lnSpc>
                <a:spcPts val="1430"/>
              </a:lnSpc>
              <a:spcBef>
                <a:spcPts val="480"/>
              </a:spcBef>
              <a:buFont typeface="Wingdings"/>
              <a:buChar char="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Authors:</a:t>
            </a:r>
            <a:r>
              <a:rPr sz="1200" spc="4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Shashi</a:t>
            </a:r>
            <a:r>
              <a:rPr sz="1200" spc="45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Kumar</a:t>
            </a:r>
            <a:r>
              <a:rPr sz="1200" spc="4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4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(SRM</a:t>
            </a:r>
            <a:r>
              <a:rPr sz="1200" spc="40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University-</a:t>
            </a:r>
            <a:r>
              <a:rPr sz="1200" dirty="0">
                <a:latin typeface="Times New Roman"/>
                <a:cs typeface="Times New Roman"/>
              </a:rPr>
              <a:t>AP),</a:t>
            </a:r>
            <a:r>
              <a:rPr sz="1200" spc="13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Dr.</a:t>
            </a:r>
            <a:r>
              <a:rPr sz="1200" spc="4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Basavaraj</a:t>
            </a:r>
            <a:r>
              <a:rPr sz="1200" spc="45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M.S.</a:t>
            </a:r>
            <a:r>
              <a:rPr sz="1200" spc="48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(Central University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Karnataka),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Dr.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Vengalrao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Pachava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(NMIMS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University,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Hyderabad)</a:t>
            </a:r>
            <a:endParaRPr sz="1200">
              <a:latin typeface="Times New Roman"/>
              <a:cs typeface="Times New Roman"/>
            </a:endParaRPr>
          </a:p>
          <a:p>
            <a:pPr marL="469265" lvl="2" indent="-227965">
              <a:lnSpc>
                <a:spcPts val="1375"/>
              </a:lnSpc>
              <a:buFont typeface="Wingdings"/>
              <a:buChar char="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Published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In: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2025</a:t>
            </a:r>
            <a:endParaRPr sz="1200">
              <a:latin typeface="Times New Roman"/>
              <a:cs typeface="Times New Roman"/>
            </a:endParaRPr>
          </a:p>
          <a:p>
            <a:pPr marL="469265" lvl="2" indent="-227965">
              <a:lnSpc>
                <a:spcPts val="1435"/>
              </a:lnSpc>
              <a:spcBef>
                <a:spcPts val="60"/>
              </a:spcBef>
              <a:buFont typeface="Wingdings"/>
              <a:buChar char="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DOI: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10.59652/jeime.v3i1.401</a:t>
            </a:r>
            <a:endParaRPr sz="1200">
              <a:latin typeface="Times New Roman"/>
              <a:cs typeface="Times New Roman"/>
            </a:endParaRPr>
          </a:p>
          <a:p>
            <a:pPr marL="469900" marR="5080" lvl="2" indent="-228600" algn="just">
              <a:lnSpc>
                <a:spcPct val="99000"/>
              </a:lnSpc>
              <a:spcBef>
                <a:spcPts val="5"/>
              </a:spcBef>
              <a:buFont typeface="Wingdings"/>
              <a:buChar char="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Summary: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paper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conducts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performance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assessment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series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models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modern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forecasting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aimed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predicting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Micro,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Small,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Medium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Enterprises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(MSMEs)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export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behavior.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research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implements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Double Exponential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Smoothing</a:t>
            </a:r>
            <a:r>
              <a:rPr sz="1200" spc="-20" dirty="0">
                <a:latin typeface="Times New Roman"/>
                <a:cs typeface="Times New Roman"/>
              </a:rPr>
              <a:t> and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ARIMA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45" dirty="0">
                <a:latin typeface="Times New Roman"/>
                <a:cs typeface="Times New Roman"/>
              </a:rPr>
              <a:t>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well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Support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35" dirty="0">
                <a:latin typeface="Times New Roman"/>
                <a:cs typeface="Times New Roman"/>
              </a:rPr>
              <a:t>Vector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Regression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Random </a:t>
            </a:r>
            <a:r>
              <a:rPr sz="1200" dirty="0">
                <a:latin typeface="Times New Roman"/>
                <a:cs typeface="Times New Roman"/>
              </a:rPr>
              <a:t>Forest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Extreme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Gradient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Boosting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models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measure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forecast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accuracy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through</a:t>
            </a:r>
            <a:endParaRPr sz="1200">
              <a:latin typeface="Times New Roman"/>
              <a:cs typeface="Times New Roman"/>
            </a:endParaRPr>
          </a:p>
          <a:p>
            <a:pPr marL="469900" marR="22225" algn="just">
              <a:lnSpc>
                <a:spcPts val="1430"/>
              </a:lnSpc>
              <a:spcBef>
                <a:spcPts val="120"/>
              </a:spcBef>
            </a:pPr>
            <a:r>
              <a:rPr sz="1200" dirty="0">
                <a:latin typeface="Times New Roman"/>
                <a:cs typeface="Times New Roman"/>
              </a:rPr>
              <a:t>different</a:t>
            </a:r>
            <a:r>
              <a:rPr sz="1200" spc="4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performance</a:t>
            </a:r>
            <a:r>
              <a:rPr sz="1200" spc="4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metrics.</a:t>
            </a:r>
            <a:r>
              <a:rPr sz="1200" spc="11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research</a:t>
            </a:r>
            <a:r>
              <a:rPr sz="1200" spc="4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demonstrates</a:t>
            </a:r>
            <a:r>
              <a:rPr sz="1200" spc="10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4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Random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Forest </a:t>
            </a:r>
            <a:r>
              <a:rPr sz="1200" dirty="0">
                <a:latin typeface="Times New Roman"/>
                <a:cs typeface="Times New Roman"/>
              </a:rPr>
              <a:t>approaches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yield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superior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performance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over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traditional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delivering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beneficial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7892" y="914400"/>
            <a:ext cx="5724525" cy="37242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9417050" y="9548240"/>
            <a:ext cx="215900" cy="20002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xfrm>
            <a:off x="10483850" y="9540875"/>
            <a:ext cx="215900" cy="20002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23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02969" y="893191"/>
            <a:ext cx="5764530" cy="841692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469900" marR="17145">
              <a:lnSpc>
                <a:spcPts val="1430"/>
              </a:lnSpc>
              <a:spcBef>
                <a:spcPts val="155"/>
              </a:spcBef>
            </a:pPr>
            <a:r>
              <a:rPr sz="1200" spc="-10" dirty="0">
                <a:latin typeface="Times New Roman"/>
                <a:cs typeface="Times New Roman"/>
              </a:rPr>
              <a:t>predictions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assist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policymakers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together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industry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practitioners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export strategy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enhancement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economic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sustainability.</a:t>
            </a:r>
            <a:endParaRPr sz="1200">
              <a:latin typeface="Times New Roman"/>
              <a:cs typeface="Times New Roman"/>
            </a:endParaRPr>
          </a:p>
          <a:p>
            <a:pPr marL="12700" marR="19685" lvl="1" indent="265430">
              <a:lnSpc>
                <a:spcPts val="1650"/>
              </a:lnSpc>
              <a:spcBef>
                <a:spcPts val="790"/>
              </a:spcBef>
              <a:buAutoNum type="arabicPeriod" startAt="2"/>
              <a:tabLst>
                <a:tab pos="278130" algn="l"/>
              </a:tabLst>
            </a:pPr>
            <a:r>
              <a:rPr sz="1400" dirty="0">
                <a:latin typeface="Times New Roman"/>
                <a:cs typeface="Times New Roman"/>
              </a:rPr>
              <a:t>Analysis</a:t>
            </a:r>
            <a:r>
              <a:rPr sz="1400" spc="-1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India’s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Bilateral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Trade and</a:t>
            </a:r>
            <a:r>
              <a:rPr sz="1400" spc="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Unrealized</a:t>
            </a:r>
            <a:r>
              <a:rPr sz="1400" spc="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Export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Potential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7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the </a:t>
            </a:r>
            <a:r>
              <a:rPr sz="1400" dirty="0">
                <a:latin typeface="Times New Roman"/>
                <a:cs typeface="Times New Roman"/>
              </a:rPr>
              <a:t>USA: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</a:t>
            </a:r>
            <a:r>
              <a:rPr sz="1400" spc="1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Exploratory</a:t>
            </a:r>
            <a:r>
              <a:rPr sz="1400" spc="1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Research</a:t>
            </a:r>
            <a:endParaRPr sz="1400">
              <a:latin typeface="Times New Roman"/>
              <a:cs typeface="Times New Roman"/>
            </a:endParaRPr>
          </a:p>
          <a:p>
            <a:pPr marL="469265" lvl="2" indent="-227965">
              <a:lnSpc>
                <a:spcPts val="1435"/>
              </a:lnSpc>
              <a:spcBef>
                <a:spcPts val="425"/>
              </a:spcBef>
              <a:buFont typeface="Wingdings"/>
              <a:buChar char="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Authors: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Namrata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Anand</a:t>
            </a:r>
            <a:endParaRPr sz="1200">
              <a:latin typeface="Times New Roman"/>
              <a:cs typeface="Times New Roman"/>
            </a:endParaRPr>
          </a:p>
          <a:p>
            <a:pPr marL="469265" lvl="2" indent="-227965">
              <a:lnSpc>
                <a:spcPts val="1425"/>
              </a:lnSpc>
              <a:buFont typeface="Wingdings"/>
              <a:buChar char="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Published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In: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June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18,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2023</a:t>
            </a:r>
            <a:endParaRPr sz="1200">
              <a:latin typeface="Times New Roman"/>
              <a:cs typeface="Times New Roman"/>
            </a:endParaRPr>
          </a:p>
          <a:p>
            <a:pPr marL="469265" lvl="2" indent="-227965">
              <a:lnSpc>
                <a:spcPts val="1435"/>
              </a:lnSpc>
              <a:buFont typeface="Wingdings"/>
              <a:buChar char="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DOI: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10.17492/jpi.focus.v10i1.1012304</a:t>
            </a:r>
            <a:endParaRPr sz="1200">
              <a:latin typeface="Times New Roman"/>
              <a:cs typeface="Times New Roman"/>
            </a:endParaRPr>
          </a:p>
          <a:p>
            <a:pPr marL="469900" marR="9525" lvl="2" indent="-228600" algn="just">
              <a:lnSpc>
                <a:spcPct val="99700"/>
              </a:lnSpc>
              <a:spcBef>
                <a:spcPts val="65"/>
              </a:spcBef>
              <a:buFont typeface="Wingdings"/>
              <a:buChar char=""/>
              <a:tabLst>
                <a:tab pos="469900" algn="l"/>
              </a:tabLst>
            </a:pPr>
            <a:r>
              <a:rPr sz="1200" spc="-10" dirty="0">
                <a:latin typeface="Times New Roman"/>
                <a:cs typeface="Times New Roman"/>
              </a:rPr>
              <a:t>Summary: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exploratory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research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studies the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decade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(2012–2021)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long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development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India-</a:t>
            </a:r>
            <a:r>
              <a:rPr sz="1200" dirty="0">
                <a:latin typeface="Times New Roman"/>
                <a:cs typeface="Times New Roman"/>
              </a:rPr>
              <a:t>US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bilateral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trade,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focusing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unrealized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export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opportunities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major sectors.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research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makes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Revealed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Comparative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Advantage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(RCA)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index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analyze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India’s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competitive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position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within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its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top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exported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products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USA,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spot</a:t>
            </a:r>
            <a:r>
              <a:rPr sz="1200" spc="3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industries</a:t>
            </a:r>
            <a:r>
              <a:rPr sz="1200" spc="4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where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India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most</a:t>
            </a:r>
            <a:r>
              <a:rPr sz="1200" spc="3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competitive</a:t>
            </a:r>
            <a:r>
              <a:rPr sz="1200" spc="4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in.</a:t>
            </a:r>
            <a:r>
              <a:rPr sz="1200" spc="3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Furthermore,</a:t>
            </a:r>
            <a:r>
              <a:rPr sz="1200" spc="4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paper </a:t>
            </a:r>
            <a:r>
              <a:rPr sz="1200" dirty="0">
                <a:latin typeface="Times New Roman"/>
                <a:cs typeface="Times New Roman"/>
              </a:rPr>
              <a:t>investigates products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significant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untapped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export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potential,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diamonds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precious</a:t>
            </a:r>
            <a:r>
              <a:rPr sz="1200" spc="13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metals,</a:t>
            </a:r>
            <a:r>
              <a:rPr sz="1200" spc="1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motor</a:t>
            </a:r>
            <a:r>
              <a:rPr sz="1200" spc="13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vehicles,</a:t>
            </a:r>
            <a:r>
              <a:rPr sz="1200" spc="14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telecommunications</a:t>
            </a:r>
            <a:r>
              <a:rPr sz="1200" spc="20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equipment,</a:t>
            </a:r>
            <a:r>
              <a:rPr sz="1200" spc="17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4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organic </a:t>
            </a:r>
            <a:r>
              <a:rPr sz="1200" dirty="0">
                <a:latin typeface="Times New Roman"/>
                <a:cs typeface="Times New Roman"/>
              </a:rPr>
              <a:t>chemicals.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results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indicate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 policy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interventions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strategic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sectors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boost </a:t>
            </a:r>
            <a:r>
              <a:rPr sz="1200" dirty="0">
                <a:latin typeface="Times New Roman"/>
                <a:cs typeface="Times New Roman"/>
              </a:rPr>
              <a:t>India's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export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performance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trade</a:t>
            </a:r>
            <a:r>
              <a:rPr sz="1200" spc="-10" dirty="0">
                <a:latin typeface="Times New Roman"/>
                <a:cs typeface="Times New Roman"/>
              </a:rPr>
              <a:t> partnership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USA.</a:t>
            </a:r>
            <a:endParaRPr sz="12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buFont typeface="Wingdings"/>
              <a:buChar char=""/>
            </a:pPr>
            <a:endParaRPr sz="12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180"/>
              </a:spcBef>
              <a:buFont typeface="Wingdings"/>
              <a:buChar char=""/>
            </a:pPr>
            <a:endParaRPr sz="1200">
              <a:latin typeface="Times New Roman"/>
              <a:cs typeface="Times New Roman"/>
            </a:endParaRPr>
          </a:p>
          <a:p>
            <a:pPr marL="249554" lvl="1" indent="-236854">
              <a:lnSpc>
                <a:spcPct val="100000"/>
              </a:lnSpc>
              <a:buAutoNum type="arabicPeriod" startAt="2"/>
              <a:tabLst>
                <a:tab pos="249554" algn="l"/>
              </a:tabLst>
            </a:pPr>
            <a:r>
              <a:rPr sz="1400" dirty="0">
                <a:latin typeface="Times New Roman"/>
                <a:cs typeface="Times New Roman"/>
              </a:rPr>
              <a:t>An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Empirical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Analysis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India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–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USA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Bilateral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Trade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Relation</a:t>
            </a:r>
            <a:endParaRPr sz="1400">
              <a:latin typeface="Times New Roman"/>
              <a:cs typeface="Times New Roman"/>
            </a:endParaRPr>
          </a:p>
          <a:p>
            <a:pPr marL="469265" lvl="2" indent="-227965" algn="just">
              <a:lnSpc>
                <a:spcPct val="100000"/>
              </a:lnSpc>
              <a:spcBef>
                <a:spcPts val="495"/>
              </a:spcBef>
              <a:buFont typeface="Wingdings"/>
              <a:buChar char=""/>
              <a:tabLst>
                <a:tab pos="469265" algn="l"/>
              </a:tabLst>
            </a:pPr>
            <a:r>
              <a:rPr sz="1100" dirty="0">
                <a:latin typeface="Calibri"/>
                <a:cs typeface="Calibri"/>
              </a:rPr>
              <a:t>Authors: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R.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Kumar</a:t>
            </a:r>
            <a:endParaRPr sz="1100">
              <a:latin typeface="Calibri"/>
              <a:cs typeface="Calibri"/>
            </a:endParaRPr>
          </a:p>
          <a:p>
            <a:pPr marL="469265" lvl="2" indent="-227965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469265" algn="l"/>
              </a:tabLst>
            </a:pPr>
            <a:r>
              <a:rPr sz="1100" dirty="0">
                <a:latin typeface="Calibri"/>
                <a:cs typeface="Calibri"/>
              </a:rPr>
              <a:t>Published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In: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2018</a:t>
            </a:r>
            <a:endParaRPr sz="1100">
              <a:latin typeface="Calibri"/>
              <a:cs typeface="Calibri"/>
            </a:endParaRPr>
          </a:p>
          <a:p>
            <a:pPr marL="469900" marR="5080" lvl="2" indent="-228600" algn="just">
              <a:lnSpc>
                <a:spcPct val="109000"/>
              </a:lnSpc>
              <a:spcBef>
                <a:spcPts val="65"/>
              </a:spcBef>
              <a:buFont typeface="Wingdings"/>
              <a:buChar char=""/>
              <a:tabLst>
                <a:tab pos="469900" algn="l"/>
              </a:tabLst>
            </a:pPr>
            <a:r>
              <a:rPr sz="1100" dirty="0">
                <a:latin typeface="Calibri"/>
                <a:cs typeface="Calibri"/>
              </a:rPr>
              <a:t>Summary: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research</a:t>
            </a:r>
            <a:r>
              <a:rPr sz="1100" spc="2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investigates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trade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partnership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between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India</a:t>
            </a:r>
            <a:r>
              <a:rPr sz="1100" spc="1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United </a:t>
            </a:r>
            <a:r>
              <a:rPr sz="1100" dirty="0">
                <a:latin typeface="Calibri"/>
                <a:cs typeface="Calibri"/>
              </a:rPr>
              <a:t>States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through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analysis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comparative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advantage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trade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complementarity</a:t>
            </a:r>
            <a:r>
              <a:rPr sz="1100" spc="16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methods.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study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uses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Revealed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Comparative</a:t>
            </a:r>
            <a:r>
              <a:rPr sz="1100" spc="10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Advantage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(RCA)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index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Trade</a:t>
            </a:r>
            <a:r>
              <a:rPr sz="1100" spc="18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Complementarity </a:t>
            </a:r>
            <a:r>
              <a:rPr sz="1100" dirty="0">
                <a:latin typeface="Calibri"/>
                <a:cs typeface="Calibri"/>
              </a:rPr>
              <a:t>Index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(TCI)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discover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Indian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sectors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possessing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comparative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advantages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along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trading </a:t>
            </a:r>
            <a:r>
              <a:rPr sz="1100" dirty="0">
                <a:latin typeface="Calibri"/>
                <a:cs typeface="Calibri"/>
              </a:rPr>
              <a:t>opportunities</a:t>
            </a:r>
            <a:r>
              <a:rPr sz="1100" spc="3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between</a:t>
            </a:r>
            <a:r>
              <a:rPr sz="1100" spc="3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both</a:t>
            </a:r>
            <a:r>
              <a:rPr sz="1100" spc="3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nations.</a:t>
            </a:r>
            <a:r>
              <a:rPr sz="1100" spc="3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3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analysis</a:t>
            </a:r>
            <a:r>
              <a:rPr sz="1100" spc="3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shows</a:t>
            </a:r>
            <a:r>
              <a:rPr sz="1100" spc="2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India</a:t>
            </a:r>
            <a:r>
              <a:rPr sz="1100" spc="3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has</a:t>
            </a:r>
            <a:r>
              <a:rPr sz="1100" spc="40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strong</a:t>
            </a:r>
            <a:r>
              <a:rPr sz="1100" spc="229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positions</a:t>
            </a:r>
            <a:r>
              <a:rPr sz="1100" spc="32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in </a:t>
            </a:r>
            <a:r>
              <a:rPr sz="1100" dirty="0">
                <a:latin typeface="Calibri"/>
                <a:cs typeface="Calibri"/>
              </a:rPr>
              <a:t>particular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areas</a:t>
            </a:r>
            <a:r>
              <a:rPr sz="1100" spc="1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yet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extensive potential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lies</a:t>
            </a:r>
            <a:r>
              <a:rPr sz="1100" spc="1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unexploited</a:t>
            </a:r>
            <a:r>
              <a:rPr sz="1100" spc="1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raising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trade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levels</a:t>
            </a:r>
            <a:r>
              <a:rPr sz="1100" spc="1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by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adopting strategic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trade</a:t>
            </a:r>
            <a:r>
              <a:rPr sz="1100" spc="-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policies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expanding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export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varieties.</a:t>
            </a:r>
            <a:endParaRPr sz="1100">
              <a:latin typeface="Calibri"/>
              <a:cs typeface="Calibri"/>
            </a:endParaRPr>
          </a:p>
          <a:p>
            <a:pPr marL="12700" marR="377825" lvl="1" indent="284480">
              <a:lnSpc>
                <a:spcPct val="102600"/>
              </a:lnSpc>
              <a:spcBef>
                <a:spcPts val="815"/>
              </a:spcBef>
              <a:buAutoNum type="arabicPeriod" startAt="2"/>
              <a:tabLst>
                <a:tab pos="297180" algn="l"/>
              </a:tabLst>
            </a:pPr>
            <a:r>
              <a:rPr sz="1400" dirty="0">
                <a:latin typeface="Times New Roman"/>
                <a:cs typeface="Times New Roman"/>
              </a:rPr>
              <a:t>Exchange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Rate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Volatility</a:t>
            </a:r>
            <a:r>
              <a:rPr sz="1400" spc="1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1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India-U.S.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Export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at</a:t>
            </a:r>
            <a:r>
              <a:rPr sz="1400" spc="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Commodity</a:t>
            </a:r>
            <a:r>
              <a:rPr sz="1400" spc="1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Level: </a:t>
            </a:r>
            <a:r>
              <a:rPr sz="1400" dirty="0">
                <a:latin typeface="Times New Roman"/>
                <a:cs typeface="Times New Roman"/>
              </a:rPr>
              <a:t>Evidence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from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Autoregressive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Distributed</a:t>
            </a:r>
            <a:r>
              <a:rPr sz="1400" spc="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Lag</a:t>
            </a:r>
            <a:r>
              <a:rPr sz="1400" spc="-10" dirty="0">
                <a:latin typeface="Times New Roman"/>
                <a:cs typeface="Times New Roman"/>
              </a:rPr>
              <a:t> Approach</a:t>
            </a:r>
            <a:endParaRPr sz="1400">
              <a:latin typeface="Times New Roman"/>
              <a:cs typeface="Times New Roman"/>
            </a:endParaRPr>
          </a:p>
          <a:p>
            <a:pPr marL="469265" lvl="2" indent="-227965">
              <a:lnSpc>
                <a:spcPct val="100000"/>
              </a:lnSpc>
              <a:spcBef>
                <a:spcPts val="400"/>
              </a:spcBef>
              <a:buFont typeface="Wingdings"/>
              <a:buChar char="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Authors: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Sakshi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Varshney</a:t>
            </a:r>
            <a:endParaRPr sz="1200">
              <a:latin typeface="Times New Roman"/>
              <a:cs typeface="Times New Roman"/>
            </a:endParaRPr>
          </a:p>
          <a:p>
            <a:pPr marL="469265" lvl="2" indent="-227965">
              <a:lnSpc>
                <a:spcPct val="100000"/>
              </a:lnSpc>
              <a:spcBef>
                <a:spcPts val="60"/>
              </a:spcBef>
              <a:buFont typeface="Wingdings"/>
              <a:buChar char="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Published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In: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2022</a:t>
            </a:r>
            <a:endParaRPr sz="1200">
              <a:latin typeface="Times New Roman"/>
              <a:cs typeface="Times New Roman"/>
            </a:endParaRPr>
          </a:p>
          <a:p>
            <a:pPr marL="469265" lvl="2" indent="-227965">
              <a:lnSpc>
                <a:spcPct val="100000"/>
              </a:lnSpc>
              <a:spcBef>
                <a:spcPts val="10"/>
              </a:spcBef>
              <a:buFont typeface="Wingdings"/>
              <a:buChar char=""/>
              <a:tabLst>
                <a:tab pos="469265" algn="l"/>
              </a:tabLst>
            </a:pPr>
            <a:r>
              <a:rPr sz="1100" b="1" dirty="0">
                <a:latin typeface="Calibri"/>
                <a:cs typeface="Calibri"/>
              </a:rPr>
              <a:t>DOI</a:t>
            </a:r>
            <a:r>
              <a:rPr sz="1100" dirty="0">
                <a:latin typeface="Calibri"/>
                <a:cs typeface="Calibri"/>
              </a:rPr>
              <a:t>: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</a:rPr>
              <a:t>10.22059/ier.2022.90661</a:t>
            </a:r>
            <a:endParaRPr sz="1100">
              <a:latin typeface="Calibri"/>
              <a:cs typeface="Calibri"/>
            </a:endParaRPr>
          </a:p>
          <a:p>
            <a:pPr marL="469900" marR="9525" lvl="2" indent="-228600" algn="just">
              <a:lnSpc>
                <a:spcPct val="99600"/>
              </a:lnSpc>
              <a:spcBef>
                <a:spcPts val="85"/>
              </a:spcBef>
              <a:buFont typeface="Wingdings"/>
              <a:buChar char=""/>
              <a:tabLst>
                <a:tab pos="469900" algn="l"/>
              </a:tabLst>
            </a:pPr>
            <a:r>
              <a:rPr sz="1200" spc="-20" dirty="0">
                <a:latin typeface="Times New Roman"/>
                <a:cs typeface="Times New Roman"/>
              </a:rPr>
              <a:t>Summary:This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study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investigates</a:t>
            </a:r>
            <a:r>
              <a:rPr sz="1200" spc="4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impact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of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exchange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rate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volatility</a:t>
            </a:r>
            <a:r>
              <a:rPr sz="1200" spc="4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India's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exports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United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States </a:t>
            </a:r>
            <a:r>
              <a:rPr sz="1200" spc="-15" dirty="0">
                <a:latin typeface="Times New Roman"/>
                <a:cs typeface="Times New Roman"/>
              </a:rPr>
              <a:t>at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spc="-8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disaggregated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commodity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level.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Utilizing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monthly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35" dirty="0">
                <a:latin typeface="Times New Roman"/>
                <a:cs typeface="Times New Roman"/>
              </a:rPr>
              <a:t>time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series</a:t>
            </a:r>
            <a:r>
              <a:rPr sz="1200" spc="50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data</a:t>
            </a:r>
            <a:r>
              <a:rPr sz="1200" spc="44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for</a:t>
            </a:r>
            <a:r>
              <a:rPr sz="1200" spc="3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60</a:t>
            </a:r>
            <a:r>
              <a:rPr sz="1200" spc="4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Indian</a:t>
            </a:r>
            <a:r>
              <a:rPr sz="1200" spc="44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export</a:t>
            </a:r>
            <a:r>
              <a:rPr sz="1200" spc="4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commodities,</a:t>
            </a:r>
            <a:r>
              <a:rPr sz="1200" spc="59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4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research</a:t>
            </a:r>
            <a:r>
              <a:rPr sz="1200" spc="4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applies</a:t>
            </a:r>
            <a:r>
              <a:rPr sz="1200" spc="50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Generalized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Autoregressive</a:t>
            </a:r>
            <a:r>
              <a:rPr sz="1200" spc="51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Conditional</a:t>
            </a:r>
            <a:r>
              <a:rPr sz="1200" spc="4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Heteroscedasticity</a:t>
            </a:r>
            <a:r>
              <a:rPr sz="1200" spc="59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(GARCH)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models</a:t>
            </a:r>
            <a:r>
              <a:rPr sz="1200" spc="4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measure</a:t>
            </a:r>
            <a:r>
              <a:rPr sz="1200" spc="4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real</a:t>
            </a:r>
            <a:r>
              <a:rPr sz="1200" spc="-10" dirty="0">
                <a:latin typeface="Times New Roman"/>
                <a:cs typeface="Times New Roman"/>
              </a:rPr>
              <a:t> exchange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rate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volatility</a:t>
            </a:r>
            <a:r>
              <a:rPr sz="1200" spc="4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and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employs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Autoregressive</a:t>
            </a:r>
            <a:r>
              <a:rPr sz="1200" spc="4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Distributed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Lag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(ARDL) </a:t>
            </a:r>
            <a:r>
              <a:rPr sz="1200" spc="-15" dirty="0">
                <a:latin typeface="Times New Roman"/>
                <a:cs typeface="Times New Roman"/>
              </a:rPr>
              <a:t>approach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analyze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both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short-</a:t>
            </a:r>
            <a:r>
              <a:rPr sz="1200" spc="-30" dirty="0">
                <a:latin typeface="Times New Roman"/>
                <a:cs typeface="Times New Roman"/>
              </a:rPr>
              <a:t>term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and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long-</a:t>
            </a:r>
            <a:r>
              <a:rPr sz="1200" spc="-30" dirty="0">
                <a:latin typeface="Times New Roman"/>
                <a:cs typeface="Times New Roman"/>
              </a:rPr>
              <a:t>term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relationships.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The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findings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reveal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that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exchange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rate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volatility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significantly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affects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export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performance,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with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45%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commodities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experiencing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short-</a:t>
            </a:r>
            <a:r>
              <a:rPr sz="1200" spc="-15" dirty="0">
                <a:latin typeface="Times New Roman"/>
                <a:cs typeface="Times New Roman"/>
              </a:rPr>
              <a:t>run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impacts,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and</a:t>
            </a:r>
            <a:r>
              <a:rPr sz="1200" dirty="0">
                <a:latin typeface="Times New Roman"/>
                <a:cs typeface="Times New Roman"/>
              </a:rPr>
              <a:t> 16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commodities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showing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effects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that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persist</a:t>
            </a:r>
            <a:r>
              <a:rPr sz="1200" spc="49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into</a:t>
            </a:r>
            <a:r>
              <a:rPr sz="1200" spc="4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long</a:t>
            </a:r>
            <a:r>
              <a:rPr sz="1200" spc="4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run.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The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study</a:t>
            </a:r>
            <a:r>
              <a:rPr sz="1200" spc="44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underscores</a:t>
            </a:r>
            <a:r>
              <a:rPr sz="1200" spc="4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4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importance</a:t>
            </a:r>
            <a:r>
              <a:rPr sz="1200" spc="5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of</a:t>
            </a:r>
            <a:r>
              <a:rPr sz="1200" spc="34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considering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commodity-specific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dynamics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when </a:t>
            </a:r>
            <a:r>
              <a:rPr sz="1200" spc="-25" dirty="0">
                <a:latin typeface="Times New Roman"/>
                <a:cs typeface="Times New Roman"/>
              </a:rPr>
              <a:t>formulating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trade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exchange </a:t>
            </a:r>
            <a:r>
              <a:rPr sz="1200" spc="-25" dirty="0">
                <a:latin typeface="Times New Roman"/>
                <a:cs typeface="Times New Roman"/>
              </a:rPr>
              <a:t>rate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policies.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9721850" y="9236075"/>
            <a:ext cx="215900" cy="20002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24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02969" y="883348"/>
            <a:ext cx="5765800" cy="4022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8.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Conclusions:-</a:t>
            </a:r>
            <a:endParaRPr sz="1800">
              <a:latin typeface="Times New Roman"/>
              <a:cs typeface="Times New Roman"/>
            </a:endParaRPr>
          </a:p>
          <a:p>
            <a:pPr marL="12700" marR="12065" algn="just">
              <a:lnSpc>
                <a:spcPct val="99100"/>
              </a:lnSpc>
              <a:spcBef>
                <a:spcPts val="130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research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implemented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various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approaches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study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export </a:t>
            </a:r>
            <a:r>
              <a:rPr sz="1200" dirty="0">
                <a:latin typeface="Times New Roman"/>
                <a:cs typeface="Times New Roman"/>
              </a:rPr>
              <a:t>statistics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100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most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traded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American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commodities.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Random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Forest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Regressor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along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other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regression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effectively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modeling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export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(value_dl)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through </a:t>
            </a:r>
            <a:r>
              <a:rPr sz="1200" dirty="0">
                <a:latin typeface="Times New Roman"/>
                <a:cs typeface="Times New Roman"/>
              </a:rPr>
              <a:t>their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quantity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(value_qt)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value_rs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along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categorical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variable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encoding.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achieved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exceptional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prediction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accuracy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R²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RMSE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measures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spc="-10" dirty="0">
                <a:latin typeface="Times New Roman"/>
                <a:cs typeface="Times New Roman"/>
              </a:rPr>
              <a:t>feature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importance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determined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primary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export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factors.</a:t>
            </a:r>
            <a:endParaRPr sz="1200">
              <a:latin typeface="Times New Roman"/>
              <a:cs typeface="Times New Roman"/>
            </a:endParaRPr>
          </a:p>
          <a:p>
            <a:pPr marL="12700" marR="8890" algn="just">
              <a:lnSpc>
                <a:spcPct val="100699"/>
              </a:lnSpc>
              <a:spcBef>
                <a:spcPts val="118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classification</a:t>
            </a:r>
            <a:r>
              <a:rPr sz="1200" spc="4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models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made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Logistic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Regression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Decision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Tree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Classifier </a:t>
            </a:r>
            <a:r>
              <a:rPr sz="1200" dirty="0">
                <a:latin typeface="Times New Roman"/>
                <a:cs typeface="Times New Roman"/>
              </a:rPr>
              <a:t>achieved</a:t>
            </a:r>
            <a:r>
              <a:rPr sz="1200" spc="4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effective</a:t>
            </a:r>
            <a:r>
              <a:rPr sz="1200" spc="4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grouping</a:t>
            </a:r>
            <a:r>
              <a:rPr sz="1200" spc="43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40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export</a:t>
            </a:r>
            <a:r>
              <a:rPr sz="1200" spc="4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4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10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high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4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low-value</a:t>
            </a:r>
            <a:r>
              <a:rPr sz="1200" spc="4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clusters.</a:t>
            </a:r>
            <a:r>
              <a:rPr sz="1200" spc="100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Binary </a:t>
            </a:r>
            <a:r>
              <a:rPr sz="1200" dirty="0">
                <a:latin typeface="Times New Roman"/>
                <a:cs typeface="Times New Roman"/>
              </a:rPr>
              <a:t>classification</a:t>
            </a:r>
            <a:r>
              <a:rPr sz="1200" spc="3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median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export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allow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factors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boost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export returns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most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considerably.</a:t>
            </a: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99100"/>
              </a:lnSpc>
              <a:spcBef>
                <a:spcPts val="120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KMeans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clustering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technique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produced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significant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meaningful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cluster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groups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showing </a:t>
            </a:r>
            <a:r>
              <a:rPr sz="1200" dirty="0">
                <a:latin typeface="Times New Roman"/>
                <a:cs typeface="Times New Roman"/>
              </a:rPr>
              <a:t>relevant</a:t>
            </a:r>
            <a:r>
              <a:rPr sz="1200" spc="3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exports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commodity-</a:t>
            </a:r>
            <a:r>
              <a:rPr sz="1200" dirty="0">
                <a:latin typeface="Times New Roman"/>
                <a:cs typeface="Times New Roman"/>
              </a:rPr>
              <a:t>country</a:t>
            </a:r>
            <a:r>
              <a:rPr sz="1200" spc="48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trade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pairings.</a:t>
            </a:r>
            <a:r>
              <a:rPr sz="1200" spc="4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Both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clustering</a:t>
            </a:r>
            <a:r>
              <a:rPr sz="1200" spc="4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methods </a:t>
            </a:r>
            <a:r>
              <a:rPr sz="1200" dirty="0">
                <a:latin typeface="Times New Roman"/>
                <a:cs typeface="Times New Roman"/>
              </a:rPr>
              <a:t>identified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strategic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patterns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export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quantity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numerical data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spc="-10" dirty="0">
                <a:latin typeface="Times New Roman"/>
                <a:cs typeface="Times New Roman"/>
              </a:rPr>
              <a:t>strategic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export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groups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through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categorizing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commodities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countries.</a:t>
            </a:r>
            <a:endParaRPr sz="1200">
              <a:latin typeface="Times New Roman"/>
              <a:cs typeface="Times New Roman"/>
            </a:endParaRPr>
          </a:p>
          <a:p>
            <a:pPr marL="12700" marR="12065" algn="just">
              <a:lnSpc>
                <a:spcPct val="101699"/>
              </a:lnSpc>
              <a:spcBef>
                <a:spcPts val="1160"/>
              </a:spcBef>
            </a:pPr>
            <a:r>
              <a:rPr sz="1200" spc="-25" dirty="0">
                <a:latin typeface="Times New Roman"/>
                <a:cs typeface="Times New Roman"/>
              </a:rPr>
              <a:t>ANOVA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35" dirty="0">
                <a:latin typeface="Times New Roman"/>
                <a:cs typeface="Times New Roman"/>
              </a:rPr>
              <a:t>t-</a:t>
            </a:r>
            <a:r>
              <a:rPr sz="1200" dirty="0">
                <a:latin typeface="Times New Roman"/>
                <a:cs typeface="Times New Roman"/>
              </a:rPr>
              <a:t>tests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demonstrated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export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values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showed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meaningful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variations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between commodities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countries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proves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essential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role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components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forecasting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well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strategic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planning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purposes.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969" y="5688266"/>
            <a:ext cx="5765165" cy="3917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AutoNum type="arabicPeriod" startAt="9"/>
              <a:tabLst>
                <a:tab pos="240665" algn="l"/>
              </a:tabLst>
            </a:pPr>
            <a:r>
              <a:rPr sz="1800" dirty="0">
                <a:latin typeface="Times New Roman"/>
                <a:cs typeface="Times New Roman"/>
              </a:rPr>
              <a:t>Decision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Analysis: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-</a:t>
            </a:r>
            <a:endParaRPr sz="1800">
              <a:latin typeface="Times New Roman"/>
              <a:cs typeface="Times New Roman"/>
            </a:endParaRPr>
          </a:p>
          <a:p>
            <a:pPr marL="468630" marR="13335" lvl="1" indent="-227329" algn="just">
              <a:lnSpc>
                <a:spcPts val="1430"/>
              </a:lnSpc>
              <a:spcBef>
                <a:spcPts val="1350"/>
              </a:spcBef>
              <a:buSzPct val="91666"/>
              <a:buAutoNum type="arabicPeriod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Target </a:t>
            </a:r>
            <a:r>
              <a:rPr sz="1200" spc="-10" dirty="0">
                <a:latin typeface="Times New Roman"/>
                <a:cs typeface="Times New Roman"/>
              </a:rPr>
              <a:t>High-</a:t>
            </a:r>
            <a:r>
              <a:rPr sz="1200" dirty="0">
                <a:latin typeface="Times New Roman"/>
                <a:cs typeface="Times New Roman"/>
              </a:rPr>
              <a:t>Performing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Trade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Routes: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Government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private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entities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should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focus 	</a:t>
            </a:r>
            <a:r>
              <a:rPr sz="1200" dirty="0">
                <a:latin typeface="Times New Roman"/>
                <a:cs typeface="Times New Roman"/>
              </a:rPr>
              <a:t>their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trade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resources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markets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linked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high-</a:t>
            </a:r>
            <a:r>
              <a:rPr sz="1200" dirty="0">
                <a:latin typeface="Times New Roman"/>
                <a:cs typeface="Times New Roman"/>
              </a:rPr>
              <a:t>export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clusters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optimize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their 	economic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returns.</a:t>
            </a:r>
            <a:endParaRPr sz="1200">
              <a:latin typeface="Times New Roman"/>
              <a:cs typeface="Times New Roman"/>
            </a:endParaRPr>
          </a:p>
          <a:p>
            <a:pPr marL="468630" marR="15240" lvl="1" indent="-227329" algn="just">
              <a:lnSpc>
                <a:spcPct val="99100"/>
              </a:lnSpc>
              <a:spcBef>
                <a:spcPts val="1370"/>
              </a:spcBef>
              <a:buSzPct val="91666"/>
              <a:buAutoNum type="arabicPeriod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10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Predictive</a:t>
            </a:r>
            <a:r>
              <a:rPr sz="1200" spc="14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Models</a:t>
            </a:r>
            <a:r>
              <a:rPr sz="1200" spc="13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4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Policy</a:t>
            </a:r>
            <a:r>
              <a:rPr sz="1200" spc="14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Planning:</a:t>
            </a:r>
            <a:r>
              <a:rPr sz="1200" spc="12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Government</a:t>
            </a:r>
            <a:r>
              <a:rPr sz="1200" spc="4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agencies</a:t>
            </a:r>
            <a:r>
              <a:rPr sz="1200" spc="13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10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trade 	organizations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should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adopt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predictive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forward-</a:t>
            </a:r>
            <a:r>
              <a:rPr sz="1200" dirty="0">
                <a:latin typeface="Times New Roman"/>
                <a:cs typeface="Times New Roman"/>
              </a:rPr>
              <a:t>looking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planning,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including 	forecasting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trade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flows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setting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export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targets.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25"/>
              </a:spcBef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468630" marR="5080" lvl="1" indent="-227329" algn="just">
              <a:lnSpc>
                <a:spcPct val="99000"/>
              </a:lnSpc>
              <a:buSzPct val="91666"/>
              <a:buAutoNum type="arabicPeriod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Enhance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Collection: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Continued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detailed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collection—</a:t>
            </a:r>
            <a:r>
              <a:rPr sz="1200" dirty="0">
                <a:latin typeface="Times New Roman"/>
                <a:cs typeface="Times New Roman"/>
              </a:rPr>
              <a:t>particularly</a:t>
            </a:r>
            <a:r>
              <a:rPr sz="1200" spc="105" dirty="0">
                <a:latin typeface="Times New Roman"/>
                <a:cs typeface="Times New Roman"/>
              </a:rPr>
              <a:t>  </a:t>
            </a:r>
            <a:r>
              <a:rPr sz="1200" spc="-25" dirty="0">
                <a:latin typeface="Times New Roman"/>
                <a:cs typeface="Times New Roman"/>
              </a:rPr>
              <a:t>on 	</a:t>
            </a:r>
            <a:r>
              <a:rPr sz="1200" dirty="0">
                <a:latin typeface="Times New Roman"/>
                <a:cs typeface="Times New Roman"/>
              </a:rPr>
              <a:t>export</a:t>
            </a:r>
            <a:r>
              <a:rPr sz="1200" spc="3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dates,</a:t>
            </a:r>
            <a:r>
              <a:rPr sz="1200" spc="3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product</a:t>
            </a:r>
            <a:r>
              <a:rPr sz="1200" spc="3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categories,</a:t>
            </a:r>
            <a:r>
              <a:rPr sz="1200" spc="40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transactional</a:t>
            </a:r>
            <a:r>
              <a:rPr sz="1200" spc="105" dirty="0">
                <a:latin typeface="Times New Roman"/>
                <a:cs typeface="Times New Roman"/>
              </a:rPr>
              <a:t>  </a:t>
            </a:r>
            <a:r>
              <a:rPr sz="1200" spc="-20" dirty="0">
                <a:latin typeface="Times New Roman"/>
                <a:cs typeface="Times New Roman"/>
              </a:rPr>
              <a:t>context—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improve</a:t>
            </a:r>
            <a:r>
              <a:rPr sz="1200" spc="409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model 	</a:t>
            </a:r>
            <a:r>
              <a:rPr sz="1200" dirty="0">
                <a:latin typeface="Times New Roman"/>
                <a:cs typeface="Times New Roman"/>
              </a:rPr>
              <a:t>accuracy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support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35" dirty="0">
                <a:latin typeface="Times New Roman"/>
                <a:cs typeface="Times New Roman"/>
              </a:rPr>
              <a:t>time-</a:t>
            </a:r>
            <a:r>
              <a:rPr sz="1200" dirty="0">
                <a:latin typeface="Times New Roman"/>
                <a:cs typeface="Times New Roman"/>
              </a:rPr>
              <a:t>series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forecasting.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85"/>
              </a:spcBef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468630" marR="12065" lvl="1" indent="-227329" algn="just">
              <a:lnSpc>
                <a:spcPts val="1430"/>
              </a:lnSpc>
              <a:spcBef>
                <a:spcPts val="5"/>
              </a:spcBef>
              <a:buSzPct val="91666"/>
              <a:buAutoNum type="arabicPeriod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Support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Commodity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Diversification: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significant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variation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export </a:t>
            </a:r>
            <a:r>
              <a:rPr sz="1200" spc="-10" dirty="0">
                <a:latin typeface="Times New Roman"/>
                <a:cs typeface="Times New Roman"/>
              </a:rPr>
              <a:t>performance 	</a:t>
            </a:r>
            <a:r>
              <a:rPr sz="1200" dirty="0">
                <a:latin typeface="Times New Roman"/>
                <a:cs typeface="Times New Roman"/>
              </a:rPr>
              <a:t>across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commodities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suggests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encouraging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diversification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addition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in 	</a:t>
            </a:r>
            <a:r>
              <a:rPr sz="1200" spc="-10" dirty="0">
                <a:latin typeface="Times New Roman"/>
                <a:cs typeface="Times New Roman"/>
              </a:rPr>
              <a:t>underperforming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sectors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could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yield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substantial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economic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benefits.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05"/>
              </a:spcBef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469900" marR="16510" lvl="1" indent="-228600" algn="just">
              <a:lnSpc>
                <a:spcPct val="96400"/>
              </a:lnSpc>
              <a:buSzPct val="91666"/>
              <a:buFont typeface="Calibri"/>
              <a:buAutoNum type="arabicPeriod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Explore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Regional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Partnerships: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Cluster-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3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segmentation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indicates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natural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trade </a:t>
            </a:r>
            <a:r>
              <a:rPr sz="1200" dirty="0">
                <a:latin typeface="Times New Roman"/>
                <a:cs typeface="Times New Roman"/>
              </a:rPr>
              <a:t>groupings;</a:t>
            </a:r>
            <a:r>
              <a:rPr sz="1200" spc="3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insights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should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explore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strengthen</a:t>
            </a:r>
            <a:r>
              <a:rPr sz="1200" spc="3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regional</a:t>
            </a:r>
            <a:r>
              <a:rPr sz="1200" spc="3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trade partnerships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supply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chain </a:t>
            </a:r>
            <a:r>
              <a:rPr sz="1200" spc="-10" dirty="0">
                <a:latin typeface="Times New Roman"/>
                <a:cs typeface="Times New Roman"/>
              </a:rPr>
              <a:t>networks</a:t>
            </a:r>
            <a:r>
              <a:rPr sz="1100" spc="-10" dirty="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10</TotalTime>
  <Words>5643</Words>
  <Application>Microsoft Office PowerPoint</Application>
  <PresentationFormat>Custom</PresentationFormat>
  <Paragraphs>275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Arial</vt:lpstr>
      <vt:lpstr>Arial MT</vt:lpstr>
      <vt:lpstr>Calibri</vt:lpstr>
      <vt:lpstr>Calibri Light</vt:lpstr>
      <vt:lpstr>Lucida Sans Unicode</vt:lpstr>
      <vt:lpstr>Times New Roman</vt:lpstr>
      <vt:lpstr>Trebuchet MS</vt:lpstr>
      <vt:lpstr>Verdana</vt:lpstr>
      <vt:lpstr>Wingdings</vt:lpstr>
      <vt:lpstr>Office Theme</vt:lpstr>
      <vt:lpstr>A Data-Driven Study of India's Export Dynamics to the Americas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Aditya Jain</dc:creator>
  <cp:lastModifiedBy>Aditya Jain</cp:lastModifiedBy>
  <cp:revision>1</cp:revision>
  <dcterms:created xsi:type="dcterms:W3CDTF">2025-10-31T13:24:07Z</dcterms:created>
  <dcterms:modified xsi:type="dcterms:W3CDTF">2025-10-31T13:35:30Z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2025-10-31T00:00:00Z</vt:filetime>
  </property>
  <property fmtid="{D5CDD505-2E9C-101B-9397-08002B2CF9AE}" pid="3" name="LastSaved">
    <vt:filetime>2025-10-31T00:00:00Z</vt:filetime>
  </property>
  <property fmtid="{D5CDD505-2E9C-101B-9397-08002B2CF9AE}" pid="4" name="Producer">
    <vt:lpwstr>iLovePDF</vt:lpwstr>
  </property>
</Properties>
</file>